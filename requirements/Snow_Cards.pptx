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5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5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3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2192000" cy="6858000"/>
  <p:notesSz cx="9928225" cy="679767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5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de-DE" sz="2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Folie mittels Klicken verschieben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de-DE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0FFA5B2-A699-4172-BC1B-1DD72EB719A9}" type="slidenum"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2698920" y="509760"/>
            <a:ext cx="4530240" cy="254916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992520" y="3228120"/>
            <a:ext cx="7943040" cy="3059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4"/>
          </p:nvPr>
        </p:nvSpPr>
        <p:spPr>
          <a:xfrm>
            <a:off x="5622480" y="6456240"/>
            <a:ext cx="4303080" cy="33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CFDFB30-90C9-4307-AC60-A3D4ED689BF4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2698920" y="509760"/>
            <a:ext cx="4530240" cy="254916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992520" y="3228120"/>
            <a:ext cx="7943040" cy="3059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5"/>
          </p:nvPr>
        </p:nvSpPr>
        <p:spPr>
          <a:xfrm>
            <a:off x="5622480" y="6456240"/>
            <a:ext cx="4303080" cy="33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75127F8-5C77-43A5-B3DA-7C58A1066416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2698920" y="509760"/>
            <a:ext cx="4530240" cy="254916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992520" y="3228120"/>
            <a:ext cx="7943040" cy="3059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6"/>
          </p:nvPr>
        </p:nvSpPr>
        <p:spPr>
          <a:xfrm>
            <a:off x="5622480" y="6456240"/>
            <a:ext cx="4303080" cy="33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3061FBB-A69D-4D3F-9A31-74C6656DD9D6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ldImg"/>
          </p:nvPr>
        </p:nvSpPr>
        <p:spPr>
          <a:xfrm>
            <a:off x="2698920" y="509760"/>
            <a:ext cx="4530240" cy="254916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992520" y="3228120"/>
            <a:ext cx="7943040" cy="3059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7"/>
          </p:nvPr>
        </p:nvSpPr>
        <p:spPr>
          <a:xfrm>
            <a:off x="5622480" y="6456240"/>
            <a:ext cx="4303080" cy="33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CE7A0E7-6DA0-437F-89B3-7AA022F5E3BD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sldImg"/>
          </p:nvPr>
        </p:nvSpPr>
        <p:spPr>
          <a:xfrm>
            <a:off x="2698920" y="509760"/>
            <a:ext cx="4530240" cy="254916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992520" y="3228120"/>
            <a:ext cx="7943040" cy="3059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8"/>
          </p:nvPr>
        </p:nvSpPr>
        <p:spPr>
          <a:xfrm>
            <a:off x="5622480" y="6456240"/>
            <a:ext cx="4303080" cy="33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A10EDC7-5295-48B1-BBF2-8044016BB0B1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2698920" y="509760"/>
            <a:ext cx="4530240" cy="254916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992520" y="3228120"/>
            <a:ext cx="7943040" cy="3059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9"/>
          </p:nvPr>
        </p:nvSpPr>
        <p:spPr>
          <a:xfrm>
            <a:off x="5622480" y="6456240"/>
            <a:ext cx="4303080" cy="33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161E79A-F878-4923-9E0D-78AC18B050EF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2698920" y="509760"/>
            <a:ext cx="4530240" cy="254916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992520" y="3228120"/>
            <a:ext cx="7943040" cy="3059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10"/>
          </p:nvPr>
        </p:nvSpPr>
        <p:spPr>
          <a:xfrm>
            <a:off x="5622480" y="6456240"/>
            <a:ext cx="4303080" cy="33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C15866C-22E7-46C5-804B-6A31906BE5EC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2698920" y="509760"/>
            <a:ext cx="4530240" cy="254916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992520" y="3228120"/>
            <a:ext cx="7943040" cy="3059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11"/>
          </p:nvPr>
        </p:nvSpPr>
        <p:spPr>
          <a:xfrm>
            <a:off x="5622480" y="6456240"/>
            <a:ext cx="4303080" cy="33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7F07D6C-89ED-4BBB-8A05-BA22BAD36129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2698920" y="509760"/>
            <a:ext cx="4530240" cy="254916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992520" y="3228120"/>
            <a:ext cx="7943040" cy="3059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12"/>
          </p:nvPr>
        </p:nvSpPr>
        <p:spPr>
          <a:xfrm>
            <a:off x="5622480" y="6456240"/>
            <a:ext cx="4303080" cy="33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00810F0-5461-4A9F-934A-0F7972D1920D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2698920" y="509760"/>
            <a:ext cx="4530240" cy="254916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992520" y="3228120"/>
            <a:ext cx="7943040" cy="3059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13"/>
          </p:nvPr>
        </p:nvSpPr>
        <p:spPr>
          <a:xfrm>
            <a:off x="5622480" y="6456240"/>
            <a:ext cx="4303080" cy="33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6987DEE-7536-40E3-8BDE-E708DF6441C9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2698920" y="509760"/>
            <a:ext cx="4530240" cy="254916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992520" y="3228120"/>
            <a:ext cx="7943040" cy="3059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14"/>
          </p:nvPr>
        </p:nvSpPr>
        <p:spPr>
          <a:xfrm>
            <a:off x="5622480" y="6456240"/>
            <a:ext cx="4303080" cy="33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0117499-2656-49AC-9B34-BAF27618C7DE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2698920" y="509760"/>
            <a:ext cx="4530240" cy="254916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992520" y="3228120"/>
            <a:ext cx="7943040" cy="3059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15"/>
          </p:nvPr>
        </p:nvSpPr>
        <p:spPr>
          <a:xfrm>
            <a:off x="5622480" y="6456240"/>
            <a:ext cx="4303080" cy="33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2160" rIns="92160" tIns="46080" bIns="4608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BA7C0A2-9585-47CD-A798-B5D346C576E8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egma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hteck 8"/>
          <p:cNvSpPr/>
          <p:nvPr/>
        </p:nvSpPr>
        <p:spPr>
          <a:xfrm>
            <a:off x="0" y="0"/>
            <a:ext cx="12191760" cy="1511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cxnSp>
        <p:nvCxnSpPr>
          <p:cNvPr id="1" name="Gerader Verbinde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2061360" y="333360"/>
            <a:ext cx="360" cy="82728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cxnSp>
        <p:nvCxnSpPr>
          <p:cNvPr id="2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6525000"/>
            <a:ext cx="12192120" cy="360"/>
          </a:xfrm>
          <a:prstGeom prst="straightConnector1">
            <a:avLst/>
          </a:prstGeom>
          <a:ln w="12700">
            <a:solidFill>
              <a:schemeClr val="dk1">
                <a:alpha val="40000"/>
              </a:schemeClr>
            </a:solidFill>
            <a:round/>
          </a:ln>
        </p:spPr>
      </p:cxnSp>
      <p:sp>
        <p:nvSpPr>
          <p:cNvPr id="3" name="Rectangle 4"/>
          <p:cNvSpPr/>
          <p:nvPr/>
        </p:nvSpPr>
        <p:spPr>
          <a:xfrm>
            <a:off x="192240" y="6525360"/>
            <a:ext cx="57596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Chemnitz ∙ 05. November 2025 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Rectangle 5"/>
          <p:cNvSpPr/>
          <p:nvPr/>
        </p:nvSpPr>
        <p:spPr>
          <a:xfrm>
            <a:off x="8252640" y="6525360"/>
            <a:ext cx="37472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 algn="r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www.tu-chemnitz.de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" name="Grafik 2" descr=""/>
          <p:cNvPicPr/>
          <p:nvPr/>
        </p:nvPicPr>
        <p:blipFill>
          <a:blip r:embed="rId2"/>
          <a:stretch/>
        </p:blipFill>
        <p:spPr>
          <a:xfrm>
            <a:off x="334800" y="333360"/>
            <a:ext cx="1387800" cy="82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87520" y="266760"/>
            <a:ext cx="9504000" cy="89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buNone/>
            </a:pPr>
            <a:r>
              <a:rPr b="1" lang="en-US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Click to edit Master title style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334800" y="1776240"/>
            <a:ext cx="11556720" cy="44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Click to edit Master text styles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0" y="2421000"/>
            <a:ext cx="12191760" cy="409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Click icon to add picture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delsberg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/>
        </p:nvSpPr>
        <p:spPr>
          <a:xfrm>
            <a:off x="0" y="0"/>
            <a:ext cx="12191760" cy="1511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cxnSp>
        <p:nvCxnSpPr>
          <p:cNvPr id="10" name="Gerader Verbinde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2061360" y="333360"/>
            <a:ext cx="360" cy="82728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cxnSp>
        <p:nvCxnSpPr>
          <p:cNvPr id="11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6525000"/>
            <a:ext cx="12192120" cy="360"/>
          </a:xfrm>
          <a:prstGeom prst="straightConnector1">
            <a:avLst/>
          </a:prstGeom>
          <a:ln w="12700">
            <a:solidFill>
              <a:schemeClr val="dk1">
                <a:alpha val="40000"/>
              </a:schemeClr>
            </a:solidFill>
            <a:round/>
          </a:ln>
        </p:spPr>
      </p:cxnSp>
      <p:sp>
        <p:nvSpPr>
          <p:cNvPr id="12" name="Rectangle 4"/>
          <p:cNvSpPr/>
          <p:nvPr/>
        </p:nvSpPr>
        <p:spPr>
          <a:xfrm>
            <a:off x="192240" y="6525360"/>
            <a:ext cx="57596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Chemnitz ∙ 05. November 2025 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Rectangle 5"/>
          <p:cNvSpPr/>
          <p:nvPr/>
        </p:nvSpPr>
        <p:spPr>
          <a:xfrm>
            <a:off x="8252640" y="6525360"/>
            <a:ext cx="37472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 algn="r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www.tu-chemnitz.de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" name="Grafik 2" descr=""/>
          <p:cNvPicPr/>
          <p:nvPr/>
        </p:nvPicPr>
        <p:blipFill>
          <a:blip r:embed="rId2"/>
          <a:stretch/>
        </p:blipFill>
        <p:spPr>
          <a:xfrm>
            <a:off x="334800" y="333360"/>
            <a:ext cx="1387800" cy="82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2387520" y="266760"/>
            <a:ext cx="9504000" cy="89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buNone/>
            </a:pPr>
            <a:r>
              <a:rPr b="1" lang="en-US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Click to edit Master title style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334800" y="1776240"/>
            <a:ext cx="11556720" cy="44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Click to edit Master text styles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0" y="2421000"/>
            <a:ext cx="2711160" cy="2440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Click icon to add picture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2711520" y="2421000"/>
            <a:ext cx="5224680" cy="2440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Click icon to add picture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7940160" y="2421000"/>
            <a:ext cx="4251600" cy="2440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Click icon to add picture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body"/>
          </p:nvPr>
        </p:nvSpPr>
        <p:spPr>
          <a:xfrm>
            <a:off x="334800" y="5200920"/>
            <a:ext cx="1404720" cy="999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Logo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7"/>
          <p:cNvSpPr>
            <a:spLocks noGrp="1"/>
          </p:cNvSpPr>
          <p:nvPr>
            <p:ph type="body"/>
          </p:nvPr>
        </p:nvSpPr>
        <p:spPr>
          <a:xfrm>
            <a:off x="2387520" y="5139360"/>
            <a:ext cx="9504000" cy="106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Click to edit Master text styles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lösa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8"/>
          <p:cNvSpPr/>
          <p:nvPr/>
        </p:nvSpPr>
        <p:spPr>
          <a:xfrm>
            <a:off x="0" y="0"/>
            <a:ext cx="12191760" cy="1511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cxnSp>
        <p:nvCxnSpPr>
          <p:cNvPr id="23" name="Gerader Verbinde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2061360" y="333360"/>
            <a:ext cx="360" cy="82728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cxnSp>
        <p:nvCxnSpPr>
          <p:cNvPr id="24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6525000"/>
            <a:ext cx="12192120" cy="360"/>
          </a:xfrm>
          <a:prstGeom prst="straightConnector1">
            <a:avLst/>
          </a:prstGeom>
          <a:ln w="12700">
            <a:solidFill>
              <a:schemeClr val="dk1">
                <a:alpha val="40000"/>
              </a:schemeClr>
            </a:solidFill>
            <a:round/>
          </a:ln>
        </p:spPr>
      </p:cxnSp>
      <p:sp>
        <p:nvSpPr>
          <p:cNvPr id="25" name="Rectangle 4"/>
          <p:cNvSpPr/>
          <p:nvPr/>
        </p:nvSpPr>
        <p:spPr>
          <a:xfrm>
            <a:off x="192240" y="6525360"/>
            <a:ext cx="57596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Chemnitz ∙ 05. November 2025 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Rectangle 5"/>
          <p:cNvSpPr/>
          <p:nvPr/>
        </p:nvSpPr>
        <p:spPr>
          <a:xfrm>
            <a:off x="8252640" y="6525360"/>
            <a:ext cx="37472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 algn="r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www.tu-chemnitz.de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Grafik 2" descr=""/>
          <p:cNvPicPr/>
          <p:nvPr/>
        </p:nvPicPr>
        <p:blipFill>
          <a:blip r:embed="rId2"/>
          <a:stretch/>
        </p:blipFill>
        <p:spPr>
          <a:xfrm>
            <a:off x="334800" y="333360"/>
            <a:ext cx="1387800" cy="82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2387520" y="266760"/>
            <a:ext cx="9504000" cy="89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buNone/>
            </a:pPr>
            <a:r>
              <a:rPr b="1" lang="en-US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Click to edit Master title style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34800" y="1844640"/>
            <a:ext cx="1404720" cy="138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Logo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2711520" y="1775520"/>
            <a:ext cx="9180000" cy="517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Click to edit Master text styles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2711520" y="2421000"/>
            <a:ext cx="9480240" cy="409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Click icon to add picture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ßberg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8"/>
          <p:cNvSpPr/>
          <p:nvPr/>
        </p:nvSpPr>
        <p:spPr>
          <a:xfrm>
            <a:off x="0" y="0"/>
            <a:ext cx="12191760" cy="1511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cxnSp>
        <p:nvCxnSpPr>
          <p:cNvPr id="33" name="Gerader Verbinde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2061360" y="333360"/>
            <a:ext cx="360" cy="827280"/>
          </a:xfrm>
          <a:prstGeom prst="straightConnector1">
            <a:avLst/>
          </a:prstGeom>
          <a:ln w="12700">
            <a:solidFill>
              <a:srgbClr val="ffffff"/>
            </a:solidFill>
            <a:round/>
          </a:ln>
        </p:spPr>
      </p:cxnSp>
      <p:cxnSp>
        <p:nvCxnSpPr>
          <p:cNvPr id="34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6525000"/>
            <a:ext cx="12192120" cy="360"/>
          </a:xfrm>
          <a:prstGeom prst="straightConnector1">
            <a:avLst/>
          </a:prstGeom>
          <a:ln w="12700">
            <a:solidFill>
              <a:schemeClr val="dk1">
                <a:alpha val="40000"/>
              </a:schemeClr>
            </a:solidFill>
            <a:round/>
          </a:ln>
        </p:spPr>
      </p:cxnSp>
      <p:sp>
        <p:nvSpPr>
          <p:cNvPr id="35" name="Rectangle 4"/>
          <p:cNvSpPr/>
          <p:nvPr/>
        </p:nvSpPr>
        <p:spPr>
          <a:xfrm>
            <a:off x="192240" y="6525360"/>
            <a:ext cx="57596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Chemnitz ∙ 05. November 2025 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Rectangle 5"/>
          <p:cNvSpPr/>
          <p:nvPr/>
        </p:nvSpPr>
        <p:spPr>
          <a:xfrm>
            <a:off x="8252640" y="6525360"/>
            <a:ext cx="37472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 algn="r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www.tu-chemnitz.de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Grafik 2" descr=""/>
          <p:cNvPicPr/>
          <p:nvPr/>
        </p:nvPicPr>
        <p:blipFill>
          <a:blip r:embed="rId2"/>
          <a:stretch/>
        </p:blipFill>
        <p:spPr>
          <a:xfrm>
            <a:off x="334800" y="333360"/>
            <a:ext cx="1387800" cy="82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2387520" y="266760"/>
            <a:ext cx="9504000" cy="89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buNone/>
            </a:pPr>
            <a:r>
              <a:rPr b="1" lang="en-US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Click to edit Master title style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0" y="1484280"/>
            <a:ext cx="3169440" cy="3186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Click icon to add picture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3177720" y="1484280"/>
            <a:ext cx="4929840" cy="3186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Click icon to add picture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8115480" y="1484280"/>
            <a:ext cx="4076280" cy="3186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Click icon to add picture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334800" y="4938480"/>
            <a:ext cx="1155672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Click to edit Master text styles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Reichenhai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8"/>
          <p:cNvSpPr/>
          <p:nvPr/>
        </p:nvSpPr>
        <p:spPr>
          <a:xfrm>
            <a:off x="0" y="360"/>
            <a:ext cx="12191760" cy="764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44" name="Gerader Verbinde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166760" y="152640"/>
            <a:ext cx="360" cy="468360"/>
          </a:xfrm>
          <a:prstGeom prst="straightConnector1">
            <a:avLst/>
          </a:prstGeom>
          <a:ln>
            <a:solidFill>
              <a:srgbClr val="ffffff"/>
            </a:solidFill>
          </a:ln>
        </p:spPr>
      </p:cxnSp>
      <p:cxnSp>
        <p:nvCxnSpPr>
          <p:cNvPr id="45" name="Gerader Verbinde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6525000"/>
            <a:ext cx="12192120" cy="360"/>
          </a:xfrm>
          <a:prstGeom prst="straightConnector1">
            <a:avLst/>
          </a:prstGeom>
          <a:ln w="12700">
            <a:solidFill>
              <a:schemeClr val="dk1">
                <a:alpha val="40000"/>
              </a:schemeClr>
            </a:solidFill>
          </a:ln>
        </p:spPr>
      </p:cxnSp>
      <p:sp>
        <p:nvSpPr>
          <p:cNvPr id="46" name="Rectangle 5"/>
          <p:cNvSpPr/>
          <p:nvPr/>
        </p:nvSpPr>
        <p:spPr>
          <a:xfrm>
            <a:off x="8252640" y="6525360"/>
            <a:ext cx="37472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 algn="r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www.tu-chemnitz.de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Fußzeilenplatzhalter 4"/>
          <p:cNvSpPr/>
          <p:nvPr/>
        </p:nvSpPr>
        <p:spPr>
          <a:xfrm>
            <a:off x="4655880" y="6526800"/>
            <a:ext cx="559260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fld id="{CA113CE7-CF0C-4EDF-A6C2-619AF645687B}" type="slidenum"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&lt;Foliennummer&gt;</a:t>
            </a:fld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Rectangle 4"/>
          <p:cNvSpPr/>
          <p:nvPr/>
        </p:nvSpPr>
        <p:spPr>
          <a:xfrm>
            <a:off x="192240" y="6525360"/>
            <a:ext cx="57596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Chemnitz ∙ 05. November 2025 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" name="Grafik 9" descr=""/>
          <p:cNvPicPr/>
          <p:nvPr/>
        </p:nvPicPr>
        <p:blipFill>
          <a:blip r:embed="rId2"/>
          <a:stretch/>
        </p:blipFill>
        <p:spPr>
          <a:xfrm>
            <a:off x="192240" y="152280"/>
            <a:ext cx="785160" cy="46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Titelmasterformat durch Klicken bearbeiten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192240" y="907920"/>
            <a:ext cx="11807640" cy="92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192240" y="1996560"/>
            <a:ext cx="11807640" cy="434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uba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hteck 8"/>
          <p:cNvSpPr/>
          <p:nvPr/>
        </p:nvSpPr>
        <p:spPr>
          <a:xfrm>
            <a:off x="0" y="360"/>
            <a:ext cx="12191760" cy="764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54" name="Gerader Verbinde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166760" y="152640"/>
            <a:ext cx="360" cy="468360"/>
          </a:xfrm>
          <a:prstGeom prst="straightConnector1">
            <a:avLst/>
          </a:prstGeom>
          <a:ln>
            <a:solidFill>
              <a:srgbClr val="ffffff"/>
            </a:solidFill>
          </a:ln>
        </p:spPr>
      </p:cxnSp>
      <p:cxnSp>
        <p:nvCxnSpPr>
          <p:cNvPr id="55" name="Gerader Verbinde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6525000"/>
            <a:ext cx="12192120" cy="360"/>
          </a:xfrm>
          <a:prstGeom prst="straightConnector1">
            <a:avLst/>
          </a:prstGeom>
          <a:ln w="12700">
            <a:solidFill>
              <a:schemeClr val="dk1">
                <a:alpha val="40000"/>
              </a:schemeClr>
            </a:solidFill>
          </a:ln>
        </p:spPr>
      </p:cxnSp>
      <p:sp>
        <p:nvSpPr>
          <p:cNvPr id="56" name="Rectangle 5"/>
          <p:cNvSpPr/>
          <p:nvPr/>
        </p:nvSpPr>
        <p:spPr>
          <a:xfrm>
            <a:off x="8252640" y="6525360"/>
            <a:ext cx="37472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 algn="r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www.tu-chemnitz.de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Fußzeilenplatzhalter 4"/>
          <p:cNvSpPr/>
          <p:nvPr/>
        </p:nvSpPr>
        <p:spPr>
          <a:xfrm>
            <a:off x="4655880" y="6526800"/>
            <a:ext cx="559260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fld id="{3BB8DDFC-A21A-4AF4-B570-4CC6A0B04AE5}" type="slidenum"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&lt;Foliennummer&gt;</a:t>
            </a:fld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Rectangle 4"/>
          <p:cNvSpPr/>
          <p:nvPr/>
        </p:nvSpPr>
        <p:spPr>
          <a:xfrm>
            <a:off x="192240" y="6525360"/>
            <a:ext cx="57596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Chemnitz ∙ 05. November 2025 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Grafik 9" descr=""/>
          <p:cNvPicPr/>
          <p:nvPr/>
        </p:nvPicPr>
        <p:blipFill>
          <a:blip r:embed="rId2"/>
          <a:stretch/>
        </p:blipFill>
        <p:spPr>
          <a:xfrm>
            <a:off x="192240" y="152280"/>
            <a:ext cx="785160" cy="46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Titelmasterformat durch Klicken bearbeiten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192240" y="907920"/>
            <a:ext cx="11807640" cy="92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192240" y="2060640"/>
            <a:ext cx="5795640" cy="428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Bild durch Klicken auf Symbol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body"/>
          </p:nvPr>
        </p:nvSpPr>
        <p:spPr>
          <a:xfrm>
            <a:off x="6203880" y="2060640"/>
            <a:ext cx="5795640" cy="428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insiedel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hteck 8"/>
          <p:cNvSpPr/>
          <p:nvPr/>
        </p:nvSpPr>
        <p:spPr>
          <a:xfrm>
            <a:off x="0" y="360"/>
            <a:ext cx="12191760" cy="764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65" name="Gerader Verbinde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166760" y="152640"/>
            <a:ext cx="360" cy="468360"/>
          </a:xfrm>
          <a:prstGeom prst="straightConnector1">
            <a:avLst/>
          </a:prstGeom>
          <a:ln>
            <a:solidFill>
              <a:srgbClr val="ffffff"/>
            </a:solidFill>
          </a:ln>
        </p:spPr>
      </p:cxnSp>
      <p:cxnSp>
        <p:nvCxnSpPr>
          <p:cNvPr id="66" name="Gerader Verbinde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6525000"/>
            <a:ext cx="12192120" cy="360"/>
          </a:xfrm>
          <a:prstGeom prst="straightConnector1">
            <a:avLst/>
          </a:prstGeom>
          <a:ln w="12700">
            <a:solidFill>
              <a:schemeClr val="dk1">
                <a:alpha val="40000"/>
              </a:schemeClr>
            </a:solidFill>
          </a:ln>
        </p:spPr>
      </p:cxnSp>
      <p:sp>
        <p:nvSpPr>
          <p:cNvPr id="67" name="Rectangle 5"/>
          <p:cNvSpPr/>
          <p:nvPr/>
        </p:nvSpPr>
        <p:spPr>
          <a:xfrm>
            <a:off x="8252640" y="6525360"/>
            <a:ext cx="37472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 algn="r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www.tu-chemnitz.de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ußzeilenplatzhalter 4"/>
          <p:cNvSpPr/>
          <p:nvPr/>
        </p:nvSpPr>
        <p:spPr>
          <a:xfrm>
            <a:off x="4655880" y="6526800"/>
            <a:ext cx="559260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fld id="{6BB520C7-5AA3-4CED-AFD5-2626C53F3D73}" type="slidenum"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&lt;Foliennummer&gt;</a:t>
            </a:fld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Rectangle 4"/>
          <p:cNvSpPr/>
          <p:nvPr/>
        </p:nvSpPr>
        <p:spPr>
          <a:xfrm>
            <a:off x="192240" y="6525360"/>
            <a:ext cx="57596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Chemnitz ∙ 05. November 2025 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Grafik 9" descr=""/>
          <p:cNvPicPr/>
          <p:nvPr/>
        </p:nvPicPr>
        <p:blipFill>
          <a:blip r:embed="rId2"/>
          <a:stretch/>
        </p:blipFill>
        <p:spPr>
          <a:xfrm>
            <a:off x="192240" y="152280"/>
            <a:ext cx="785160" cy="46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Titelmasterformat durch Klicken bearbeiten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192240" y="907920"/>
            <a:ext cx="11807640" cy="92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192240" y="2060640"/>
            <a:ext cx="5795640" cy="236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Bild durch Klicken auf Symbol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192240" y="4618800"/>
            <a:ext cx="5795640" cy="1726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6203880" y="2060640"/>
            <a:ext cx="5795640" cy="236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Bild durch Klicken auf Symbol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body"/>
          </p:nvPr>
        </p:nvSpPr>
        <p:spPr>
          <a:xfrm>
            <a:off x="6203880" y="4618800"/>
            <a:ext cx="5795640" cy="1726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Rabenstei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hteck 8"/>
          <p:cNvSpPr/>
          <p:nvPr/>
        </p:nvSpPr>
        <p:spPr>
          <a:xfrm>
            <a:off x="0" y="360"/>
            <a:ext cx="12191760" cy="764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78" name="Gerader Verbinde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166760" y="152640"/>
            <a:ext cx="360" cy="468360"/>
          </a:xfrm>
          <a:prstGeom prst="straightConnector1">
            <a:avLst/>
          </a:prstGeom>
          <a:ln>
            <a:solidFill>
              <a:srgbClr val="ffffff"/>
            </a:solidFill>
          </a:ln>
        </p:spPr>
      </p:cxnSp>
      <p:cxnSp>
        <p:nvCxnSpPr>
          <p:cNvPr id="79" name="Gerader Verbinde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6525000"/>
            <a:ext cx="12192120" cy="360"/>
          </a:xfrm>
          <a:prstGeom prst="straightConnector1">
            <a:avLst/>
          </a:prstGeom>
          <a:ln w="12700">
            <a:solidFill>
              <a:schemeClr val="dk1">
                <a:alpha val="40000"/>
              </a:schemeClr>
            </a:solidFill>
          </a:ln>
        </p:spPr>
      </p:cxnSp>
      <p:sp>
        <p:nvSpPr>
          <p:cNvPr id="80" name="Rectangle 5"/>
          <p:cNvSpPr/>
          <p:nvPr/>
        </p:nvSpPr>
        <p:spPr>
          <a:xfrm>
            <a:off x="8252640" y="6525360"/>
            <a:ext cx="37472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 algn="r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www.tu-chemnitz.de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Fußzeilenplatzhalter 4"/>
          <p:cNvSpPr/>
          <p:nvPr/>
        </p:nvSpPr>
        <p:spPr>
          <a:xfrm>
            <a:off x="4655880" y="6526800"/>
            <a:ext cx="559260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fld id="{CEB886EC-A8DF-4A28-B5DA-8E223DFFB2BB}" type="slidenum"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&lt;Foliennummer&gt;</a:t>
            </a:fld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4"/>
          <p:cNvSpPr/>
          <p:nvPr/>
        </p:nvSpPr>
        <p:spPr>
          <a:xfrm>
            <a:off x="192240" y="6525360"/>
            <a:ext cx="57596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Chemnitz ∙ 05. November 2025 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Grafik 9" descr=""/>
          <p:cNvPicPr/>
          <p:nvPr/>
        </p:nvPicPr>
        <p:blipFill>
          <a:blip r:embed="rId2"/>
          <a:stretch/>
        </p:blipFill>
        <p:spPr>
          <a:xfrm>
            <a:off x="192240" y="152280"/>
            <a:ext cx="785160" cy="46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Titelmasterformat durch Klicken bearbeiten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192240" y="907920"/>
            <a:ext cx="11807640" cy="92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192240" y="2060640"/>
            <a:ext cx="3708000" cy="428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Bild durch Klicken auf Symbol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4116240" y="2060640"/>
            <a:ext cx="7883280" cy="428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rfenschlag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hteck 8"/>
          <p:cNvSpPr/>
          <p:nvPr/>
        </p:nvSpPr>
        <p:spPr>
          <a:xfrm>
            <a:off x="0" y="360"/>
            <a:ext cx="12191760" cy="764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89" name="Gerader Verbinde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166760" y="152640"/>
            <a:ext cx="360" cy="468360"/>
          </a:xfrm>
          <a:prstGeom prst="straightConnector1">
            <a:avLst/>
          </a:prstGeom>
          <a:ln>
            <a:solidFill>
              <a:srgbClr val="ffffff"/>
            </a:solidFill>
          </a:ln>
        </p:spPr>
      </p:cxnSp>
      <p:cxnSp>
        <p:nvCxnSpPr>
          <p:cNvPr id="90" name="Gerader Verbinde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6525000"/>
            <a:ext cx="12192120" cy="360"/>
          </a:xfrm>
          <a:prstGeom prst="straightConnector1">
            <a:avLst/>
          </a:prstGeom>
          <a:ln w="12700">
            <a:solidFill>
              <a:schemeClr val="dk1">
                <a:alpha val="40000"/>
              </a:schemeClr>
            </a:solidFill>
          </a:ln>
        </p:spPr>
      </p:cxnSp>
      <p:sp>
        <p:nvSpPr>
          <p:cNvPr id="91" name="Rectangle 5"/>
          <p:cNvSpPr/>
          <p:nvPr/>
        </p:nvSpPr>
        <p:spPr>
          <a:xfrm>
            <a:off x="8252640" y="6525360"/>
            <a:ext cx="37472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 algn="r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www.tu-chemnitz.de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Fußzeilenplatzhalter 4"/>
          <p:cNvSpPr/>
          <p:nvPr/>
        </p:nvSpPr>
        <p:spPr>
          <a:xfrm>
            <a:off x="4655880" y="6526800"/>
            <a:ext cx="559260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fld id="{F60EEA85-63FA-4241-9426-72587749E5F5}" type="slidenum"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&lt;Foliennummer&gt;</a:t>
            </a:fld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4"/>
          <p:cNvSpPr/>
          <p:nvPr/>
        </p:nvSpPr>
        <p:spPr>
          <a:xfrm>
            <a:off x="192240" y="6525360"/>
            <a:ext cx="57596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Chemnitz ∙ 05. November 2025 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Grafik 9" descr=""/>
          <p:cNvPicPr/>
          <p:nvPr/>
        </p:nvPicPr>
        <p:blipFill>
          <a:blip r:embed="rId2"/>
          <a:stretch/>
        </p:blipFill>
        <p:spPr>
          <a:xfrm>
            <a:off x="192240" y="152280"/>
            <a:ext cx="785160" cy="46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Titelmasterformat durch Klicken bearbeiten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192240" y="907920"/>
            <a:ext cx="790200" cy="92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Logo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1558800" y="907920"/>
            <a:ext cx="10440720" cy="92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body"/>
          </p:nvPr>
        </p:nvSpPr>
        <p:spPr>
          <a:xfrm>
            <a:off x="1558800" y="1996560"/>
            <a:ext cx="10440720" cy="434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ablenz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hteck 8"/>
          <p:cNvSpPr/>
          <p:nvPr/>
        </p:nvSpPr>
        <p:spPr>
          <a:xfrm>
            <a:off x="0" y="360"/>
            <a:ext cx="12191760" cy="764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00" name="Gerader Verbinde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166760" y="152640"/>
            <a:ext cx="360" cy="468360"/>
          </a:xfrm>
          <a:prstGeom prst="straightConnector1">
            <a:avLst/>
          </a:prstGeom>
          <a:ln>
            <a:solidFill>
              <a:srgbClr val="ffffff"/>
            </a:solidFill>
          </a:ln>
        </p:spPr>
      </p:cxnSp>
      <p:cxnSp>
        <p:nvCxnSpPr>
          <p:cNvPr id="101" name="Gerader Verbinde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6525000"/>
            <a:ext cx="12192120" cy="360"/>
          </a:xfrm>
          <a:prstGeom prst="straightConnector1">
            <a:avLst/>
          </a:prstGeom>
          <a:ln w="12700">
            <a:solidFill>
              <a:schemeClr val="dk1">
                <a:alpha val="40000"/>
              </a:schemeClr>
            </a:solidFill>
          </a:ln>
        </p:spPr>
      </p:cxnSp>
      <p:sp>
        <p:nvSpPr>
          <p:cNvPr id="102" name="Rectangle 5"/>
          <p:cNvSpPr/>
          <p:nvPr/>
        </p:nvSpPr>
        <p:spPr>
          <a:xfrm>
            <a:off x="8252640" y="6525360"/>
            <a:ext cx="37472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 algn="r"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www.tu-chemnitz.de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Fußzeilenplatzhalter 4"/>
          <p:cNvSpPr/>
          <p:nvPr/>
        </p:nvSpPr>
        <p:spPr>
          <a:xfrm>
            <a:off x="4655880" y="6526800"/>
            <a:ext cx="559260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fld id="{5F0C1D1F-F5AA-476A-87E3-08047509905B}" type="slidenum"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&lt;Foliennummer&gt;</a:t>
            </a:fld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4"/>
          <p:cNvSpPr/>
          <p:nvPr/>
        </p:nvSpPr>
        <p:spPr>
          <a:xfrm>
            <a:off x="192240" y="6525360"/>
            <a:ext cx="57596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Chemnitz ∙ 05. November 2025 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Grafik 9" descr=""/>
          <p:cNvPicPr/>
          <p:nvPr/>
        </p:nvPicPr>
        <p:blipFill>
          <a:blip r:embed="rId2"/>
          <a:stretch/>
        </p:blipFill>
        <p:spPr>
          <a:xfrm>
            <a:off x="192240" y="152280"/>
            <a:ext cx="785160" cy="46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Titelmasterformat durch Klicken bearbeiten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192240" y="907920"/>
            <a:ext cx="1180764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de-DE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192240" y="1376280"/>
            <a:ext cx="3779640" cy="1907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Bild durch Klicken auf Symbol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body"/>
          </p:nvPr>
        </p:nvSpPr>
        <p:spPr>
          <a:xfrm>
            <a:off x="192240" y="3497760"/>
            <a:ext cx="3779640" cy="284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 type="body"/>
          </p:nvPr>
        </p:nvSpPr>
        <p:spPr>
          <a:xfrm>
            <a:off x="4151880" y="1376280"/>
            <a:ext cx="3852000" cy="1907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Bild durch Klicken auf Symbol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111" name="PlaceHolder 6"/>
          <p:cNvSpPr>
            <a:spLocks noGrp="1"/>
          </p:cNvSpPr>
          <p:nvPr>
            <p:ph type="body"/>
          </p:nvPr>
        </p:nvSpPr>
        <p:spPr>
          <a:xfrm>
            <a:off x="4151160" y="3497760"/>
            <a:ext cx="3852360" cy="284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PlaceHolder 7"/>
          <p:cNvSpPr>
            <a:spLocks noGrp="1"/>
          </p:cNvSpPr>
          <p:nvPr>
            <p:ph type="body"/>
          </p:nvPr>
        </p:nvSpPr>
        <p:spPr>
          <a:xfrm>
            <a:off x="8184240" y="1376280"/>
            <a:ext cx="3815280" cy="1907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Bild durch Klicken auf Symbol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  <p:sp>
        <p:nvSpPr>
          <p:cNvPr id="113" name="PlaceHolder 8"/>
          <p:cNvSpPr>
            <a:spLocks noGrp="1"/>
          </p:cNvSpPr>
          <p:nvPr>
            <p:ph type="body"/>
          </p:nvPr>
        </p:nvSpPr>
        <p:spPr>
          <a:xfrm>
            <a:off x="8183520" y="3497760"/>
            <a:ext cx="3816000" cy="284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Textmasterformat bearbeiten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2387520" y="266760"/>
            <a:ext cx="9504000" cy="89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indent="0">
              <a:lnSpc>
                <a:spcPct val="100000"/>
              </a:lnSpc>
              <a:buNone/>
            </a:pPr>
            <a:r>
              <a:rPr b="1" lang="en-US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Softwarepraktikum WS25/26</a:t>
            </a:r>
            <a:br>
              <a:rPr sz="2800"/>
            </a:br>
            <a:br>
              <a:rPr sz="2800"/>
            </a:br>
            <a:br>
              <a:rPr sz="2800"/>
            </a:b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334800" y="1776240"/>
            <a:ext cx="1167768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Meilenstein 1: Requirements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Abgabe: 05.11.2025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platzhalter 5"/>
          <p:cNvSpPr/>
          <p:nvPr/>
        </p:nvSpPr>
        <p:spPr>
          <a:xfrm>
            <a:off x="889200" y="2927880"/>
            <a:ext cx="4135320" cy="31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Anton Schmierer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br>
              <a:rPr sz="2000"/>
            </a:b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Hanna Scheudeck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Pia Scheffelmaier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Mohammed Rajeh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Gliederung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139320" y="1394640"/>
            <a:ext cx="11912760" cy="44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1. Functional Requirements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2. Non-Functional Requirements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Gliederung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139320" y="1394640"/>
            <a:ext cx="11912760" cy="445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Es folgen die Templates für beide Arten von Requirements. Kopiert euch diese und verändert die Templates bitte nicht.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Vorschlag für die Nummerierung der Requirements: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Functional: FR-1, FR-2 usw.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Non-Functional: NR-1, NR-2 usw.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de-DE" sz="2400" strike="noStrike" u="none">
              <a:solidFill>
                <a:schemeClr val="dk1"/>
              </a:solidFill>
              <a:effectLst/>
              <a:uFillTx/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1. Functional Requirements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8" name="Rechteck 12"/>
          <p:cNvSpPr/>
          <p:nvPr/>
        </p:nvSpPr>
        <p:spPr>
          <a:xfrm>
            <a:off x="19224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#: FR-1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Rechteck 13"/>
          <p:cNvSpPr/>
          <p:nvPr/>
        </p:nvSpPr>
        <p:spPr>
          <a:xfrm>
            <a:off x="443628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Type: Functional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Rechteck 14"/>
          <p:cNvSpPr/>
          <p:nvPr/>
        </p:nvSpPr>
        <p:spPr>
          <a:xfrm>
            <a:off x="868032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Event/BUC/PUC#: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BUC-01-Datenerfassung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echteck 15"/>
          <p:cNvSpPr/>
          <p:nvPr/>
        </p:nvSpPr>
        <p:spPr>
          <a:xfrm>
            <a:off x="192240" y="137052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Description: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echteck 22"/>
          <p:cNvSpPr/>
          <p:nvPr/>
        </p:nvSpPr>
        <p:spPr>
          <a:xfrm>
            <a:off x="1903320" y="1370520"/>
            <a:ext cx="1009620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Das System soll Mitarbeiter*innen ermöglichen, neue Anfragen und Beratungsfälle über eine benutzerfreundliche Eingabemaske zu erfassen. Es gibt zwei Arten von Datensätzem:  Anfrage (Erstkontakt bzw. Terminvereinbarung) und Beratungsfall (laufende Beratung). Beim Speichern werden Pflichtfelder überprüft: fehlende Angaben werden mit Fehlermeldung angezeigt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echteck 28"/>
          <p:cNvSpPr/>
          <p:nvPr/>
        </p:nvSpPr>
        <p:spPr>
          <a:xfrm>
            <a:off x="192240" y="23014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Rationale: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echteck 29"/>
          <p:cNvSpPr/>
          <p:nvPr/>
        </p:nvSpPr>
        <p:spPr>
          <a:xfrm>
            <a:off x="1903320" y="2301480"/>
            <a:ext cx="1009620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Der Kernprozess des Systems ist die Datenerfassung. Die Erfassung soll difital und strukturiert erfolgen. Das reduziert den Arbeitsaufwand der Mitglieder*innen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hteck 31"/>
          <p:cNvSpPr/>
          <p:nvPr/>
        </p:nvSpPr>
        <p:spPr>
          <a:xfrm>
            <a:off x="192240" y="32320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Originator: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hteck 32"/>
          <p:cNvSpPr/>
          <p:nvPr/>
        </p:nvSpPr>
        <p:spPr>
          <a:xfrm>
            <a:off x="1903320" y="3232080"/>
            <a:ext cx="10096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Mitarbeiter*innen des Bellis e.V.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echteck 34"/>
          <p:cNvSpPr/>
          <p:nvPr/>
        </p:nvSpPr>
        <p:spPr>
          <a:xfrm>
            <a:off x="192240" y="36946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Fit Criterion: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Rechteck 35"/>
          <p:cNvSpPr/>
          <p:nvPr/>
        </p:nvSpPr>
        <p:spPr>
          <a:xfrm>
            <a:off x="1903320" y="3694680"/>
            <a:ext cx="1009620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Mitarbeiter*innen können Schneller eine vollständige Anfrage oder Beratungsfall erfassen. Alle Pflichtfelder werden überprüft und Fehlermeldungen sind verständlich formuliert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hteck 36"/>
          <p:cNvSpPr/>
          <p:nvPr/>
        </p:nvSpPr>
        <p:spPr>
          <a:xfrm>
            <a:off x="192240" y="46256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Schnellere Dokumentation &amp; schnellere Eingabe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echteck 37"/>
          <p:cNvSpPr/>
          <p:nvPr/>
        </p:nvSpPr>
        <p:spPr>
          <a:xfrm>
            <a:off x="6254640" y="462276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Dissatisfaction: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Ohne diese Funktion bleibt der Erfassungsprozess unübersichtlich und die Fehleranfälligkeit bleibt hoch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echteck 38"/>
          <p:cNvSpPr/>
          <p:nvPr/>
        </p:nvSpPr>
        <p:spPr>
          <a:xfrm>
            <a:off x="192240" y="50882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Priority: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Hoch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echteck 39"/>
          <p:cNvSpPr/>
          <p:nvPr/>
        </p:nvSpPr>
        <p:spPr>
          <a:xfrm>
            <a:off x="6254640" y="5086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Conflicts: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Bei zu vielen Pflichtfeldern kann die Erfassung als zu aufwendig empfunden werden. 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echteck 40"/>
          <p:cNvSpPr/>
          <p:nvPr/>
        </p:nvSpPr>
        <p:spPr>
          <a:xfrm>
            <a:off x="192240" y="55508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Supporting Materials: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Projektbeschreibung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echteck 41"/>
          <p:cNvSpPr/>
          <p:nvPr/>
        </p:nvSpPr>
        <p:spPr>
          <a:xfrm>
            <a:off x="192240" y="6013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History: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01.11.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1. Functional Requirements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6" name="Rechteck 12"/>
          <p:cNvSpPr/>
          <p:nvPr/>
        </p:nvSpPr>
        <p:spPr>
          <a:xfrm>
            <a:off x="19224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#: FR-2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echteck 13"/>
          <p:cNvSpPr/>
          <p:nvPr/>
        </p:nvSpPr>
        <p:spPr>
          <a:xfrm>
            <a:off x="443628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Type: Functional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Rechteck 14"/>
          <p:cNvSpPr/>
          <p:nvPr/>
        </p:nvSpPr>
        <p:spPr>
          <a:xfrm>
            <a:off x="868032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Event/BUC/PUC #: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echteck 15"/>
          <p:cNvSpPr/>
          <p:nvPr/>
        </p:nvSpPr>
        <p:spPr>
          <a:xfrm>
            <a:off x="192240" y="137052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Description: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echteck 22"/>
          <p:cNvSpPr/>
          <p:nvPr/>
        </p:nvSpPr>
        <p:spPr>
          <a:xfrm>
            <a:off x="1899360" y="137052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Berechnung und Export von Statistiken aus gespeicherten Daten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Erstellen und Nutzen von Filtern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Export der Statistiken (pdf xlsx, csv)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echteck 28"/>
          <p:cNvSpPr/>
          <p:nvPr/>
        </p:nvSpPr>
        <p:spPr>
          <a:xfrm>
            <a:off x="192240" y="23014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Rationale: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Rechteck 29"/>
          <p:cNvSpPr/>
          <p:nvPr/>
        </p:nvSpPr>
        <p:spPr>
          <a:xfrm>
            <a:off x="1899360" y="230148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Eines der grundlegenden Ziele der Software ist es, die Erstellung von Statistiken zu vereinfachen, die von den jeweiligen Beratungsstellen gebraucht werden.  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echteck 31"/>
          <p:cNvSpPr/>
          <p:nvPr/>
        </p:nvSpPr>
        <p:spPr>
          <a:xfrm>
            <a:off x="192240" y="32320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Originator: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hteck 32"/>
          <p:cNvSpPr/>
          <p:nvPr/>
        </p:nvSpPr>
        <p:spPr>
          <a:xfrm>
            <a:off x="1899360" y="3232080"/>
            <a:ext cx="100976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Mitarbeiter*innen des Bellis e.V.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echteck 34"/>
          <p:cNvSpPr/>
          <p:nvPr/>
        </p:nvSpPr>
        <p:spPr>
          <a:xfrm>
            <a:off x="192240" y="36946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Fit Criterion: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echteck 35"/>
          <p:cNvSpPr/>
          <p:nvPr/>
        </p:nvSpPr>
        <p:spPr>
          <a:xfrm>
            <a:off x="1899360" y="369468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Es ist möglich korrekte Statistiken zu exportieren. Filter lassen sich erstellen und sind speicherbar.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echteck 36"/>
          <p:cNvSpPr/>
          <p:nvPr/>
        </p:nvSpPr>
        <p:spPr>
          <a:xfrm>
            <a:off x="192240" y="46256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echteck 37"/>
          <p:cNvSpPr/>
          <p:nvPr/>
        </p:nvSpPr>
        <p:spPr>
          <a:xfrm>
            <a:off x="6254640" y="462276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Dissatisfaction: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echteck 38"/>
          <p:cNvSpPr/>
          <p:nvPr/>
        </p:nvSpPr>
        <p:spPr>
          <a:xfrm>
            <a:off x="192240" y="50882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Priority: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Hoch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echteck 39"/>
          <p:cNvSpPr/>
          <p:nvPr/>
        </p:nvSpPr>
        <p:spPr>
          <a:xfrm>
            <a:off x="6254640" y="5086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Conflicts: -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echteck 40"/>
          <p:cNvSpPr/>
          <p:nvPr/>
        </p:nvSpPr>
        <p:spPr>
          <a:xfrm>
            <a:off x="192240" y="55508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Supporting Materials: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Anforderungsbeschreibung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echteck 41"/>
          <p:cNvSpPr/>
          <p:nvPr/>
        </p:nvSpPr>
        <p:spPr>
          <a:xfrm>
            <a:off x="192240" y="6013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History: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. 03.11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1. Functional Requirements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4" name="Rechteck 12"/>
          <p:cNvSpPr/>
          <p:nvPr/>
        </p:nvSpPr>
        <p:spPr>
          <a:xfrm>
            <a:off x="19224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#: FR-5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echteck 13"/>
          <p:cNvSpPr/>
          <p:nvPr/>
        </p:nvSpPr>
        <p:spPr>
          <a:xfrm>
            <a:off x="443628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Type: Functional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Rechteck 14"/>
          <p:cNvSpPr/>
          <p:nvPr/>
        </p:nvSpPr>
        <p:spPr>
          <a:xfrm>
            <a:off x="868032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Event/BUC/PUC #: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echteck 15"/>
          <p:cNvSpPr/>
          <p:nvPr/>
        </p:nvSpPr>
        <p:spPr>
          <a:xfrm>
            <a:off x="192240" y="1370520"/>
            <a:ext cx="1375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Description: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echteck 22"/>
          <p:cNvSpPr/>
          <p:nvPr/>
        </p:nvSpPr>
        <p:spPr>
          <a:xfrm>
            <a:off x="1903320" y="1370520"/>
            <a:ext cx="1009620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Das System benötigt passwortgeschützte Konten mit abgestuften Rechten:  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  - </a:t>
            </a:r>
            <a:r>
              <a:rPr b="1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Basiskonto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Datensätze erfassen/bearbeiten, Statistiken abrufen, selbsterstellte Presets speichern/löschen 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  - </a:t>
            </a:r>
            <a:r>
              <a:rPr b="1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Erweiterungskonto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Zusätzlich neue Formularfelder und geteilte Presets verwalten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  - </a:t>
            </a:r>
            <a:r>
              <a:rPr b="1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Administrationskonto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Zusätzlich Benutzerkonten verwalten (anlegen, Rechte zuweisen/entziehen, löschen)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Es muss immer mindestens ein Konto mit Administrationsrechten existieren (empfohlen zwei)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Rechteck 28"/>
          <p:cNvSpPr/>
          <p:nvPr/>
        </p:nvSpPr>
        <p:spPr>
          <a:xfrm>
            <a:off x="192240" y="2301480"/>
            <a:ext cx="1375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Rationale: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hteck 29"/>
          <p:cNvSpPr/>
          <p:nvPr/>
        </p:nvSpPr>
        <p:spPr>
          <a:xfrm>
            <a:off x="1903320" y="2301480"/>
            <a:ext cx="1009620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Sicherheit der Daten und Vermeidung von Überforderung durch unnötig viele Optionen. Principle of least required privilege.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hteck 31"/>
          <p:cNvSpPr/>
          <p:nvPr/>
        </p:nvSpPr>
        <p:spPr>
          <a:xfrm>
            <a:off x="192240" y="3232080"/>
            <a:ext cx="1375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Originator: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echteck 32"/>
          <p:cNvSpPr/>
          <p:nvPr/>
        </p:nvSpPr>
        <p:spPr>
          <a:xfrm>
            <a:off x="1903320" y="3232080"/>
            <a:ext cx="10096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Mitarbeiter*innen des Bellis e.V.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echteck 34"/>
          <p:cNvSpPr/>
          <p:nvPr/>
        </p:nvSpPr>
        <p:spPr>
          <a:xfrm>
            <a:off x="192240" y="3694680"/>
            <a:ext cx="1375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Fit Criterion: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echteck 35"/>
          <p:cNvSpPr/>
          <p:nvPr/>
        </p:nvSpPr>
        <p:spPr>
          <a:xfrm>
            <a:off x="1903320" y="3694680"/>
            <a:ext cx="1009620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Die Konten sind passwortgeschützt und mit den entsprechenden Berechtigungen ausgestattet. Es gibt mindestens ein Administrationskonto.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echteck 36"/>
          <p:cNvSpPr/>
          <p:nvPr/>
        </p:nvSpPr>
        <p:spPr>
          <a:xfrm>
            <a:off x="192240" y="46256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echteck 37"/>
          <p:cNvSpPr/>
          <p:nvPr/>
        </p:nvSpPr>
        <p:spPr>
          <a:xfrm>
            <a:off x="6254640" y="462276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Dissatisfaction: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echteck 38"/>
          <p:cNvSpPr/>
          <p:nvPr/>
        </p:nvSpPr>
        <p:spPr>
          <a:xfrm>
            <a:off x="192240" y="50882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Priority: </a:t>
            </a:r>
            <a:r>
              <a:rPr b="0" lang="de-DE" sz="105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Hoch</a:t>
            </a:r>
            <a:endParaRPr b="0" lang="de-DE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Rechteck 39"/>
          <p:cNvSpPr/>
          <p:nvPr/>
        </p:nvSpPr>
        <p:spPr>
          <a:xfrm>
            <a:off x="6254640" y="5086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Conflicts: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hteck 40"/>
          <p:cNvSpPr/>
          <p:nvPr/>
        </p:nvSpPr>
        <p:spPr>
          <a:xfrm>
            <a:off x="192240" y="55508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Supporting Materials: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Anforderungsbeschreibung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echteck 41"/>
          <p:cNvSpPr/>
          <p:nvPr/>
        </p:nvSpPr>
        <p:spPr>
          <a:xfrm>
            <a:off x="192240" y="602136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History:</a:t>
            </a:r>
            <a:r>
              <a:rPr b="1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Erstellt 02.11.2025, bearbeitet: -, letzte:r Bearbeiter:in Anton Schmierer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2. Non-Functional Requirements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2" name="Rechteck 12"/>
          <p:cNvSpPr/>
          <p:nvPr/>
        </p:nvSpPr>
        <p:spPr>
          <a:xfrm>
            <a:off x="19224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#: NR-01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echteck 13"/>
          <p:cNvSpPr/>
          <p:nvPr/>
        </p:nvSpPr>
        <p:spPr>
          <a:xfrm>
            <a:off x="4277520" y="91080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Type: Non-Functional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hteck 14"/>
          <p:cNvSpPr/>
          <p:nvPr/>
        </p:nvSpPr>
        <p:spPr>
          <a:xfrm>
            <a:off x="868032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Event/BUC/PUC#: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Rechteck 15"/>
          <p:cNvSpPr/>
          <p:nvPr/>
        </p:nvSpPr>
        <p:spPr>
          <a:xfrm>
            <a:off x="192240" y="137052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Description: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echteck 22"/>
          <p:cNvSpPr/>
          <p:nvPr/>
        </p:nvSpPr>
        <p:spPr>
          <a:xfrm>
            <a:off x="1903320" y="137052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Das System soll eine barrierearme Benutzeroberfläche bereitstellen- Diese soll ohne technische Vorkenntnisse bedienbar sein. Nutzer*innen sollen Funktionen wie Datenerfassung, Bearbeitung und Statistikausgabe Leicht verstehen können. 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Rechteck 28"/>
          <p:cNvSpPr/>
          <p:nvPr/>
        </p:nvSpPr>
        <p:spPr>
          <a:xfrm>
            <a:off x="192240" y="23014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Rationale: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hteck 29"/>
          <p:cNvSpPr/>
          <p:nvPr/>
        </p:nvSpPr>
        <p:spPr>
          <a:xfrm>
            <a:off x="1903320" y="230148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Eine einfache Bedienung ist entscheidend, um fehlerfreie Nutzung zu gewährleisten. 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echteck 31"/>
          <p:cNvSpPr/>
          <p:nvPr/>
        </p:nvSpPr>
        <p:spPr>
          <a:xfrm>
            <a:off x="192240" y="32320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Originator: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Rechteck 32"/>
          <p:cNvSpPr/>
          <p:nvPr/>
        </p:nvSpPr>
        <p:spPr>
          <a:xfrm>
            <a:off x="1903320" y="3232080"/>
            <a:ext cx="100976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Mitarbeiter*innen des Bellis e.V.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echteck 34"/>
          <p:cNvSpPr/>
          <p:nvPr/>
        </p:nvSpPr>
        <p:spPr>
          <a:xfrm>
            <a:off x="192240" y="36946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Fit Criterion: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hteck 35"/>
          <p:cNvSpPr/>
          <p:nvPr/>
        </p:nvSpPr>
        <p:spPr>
          <a:xfrm>
            <a:off x="1903320" y="369468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Eine neue Nutzer*in kann innerhalb von wenigen Minuten eine Anfrage vollständig erfassen. Die Oberfläche soll als intuitiv und verständlich wahrgenommen werden. Schriftgröße und Kontrast sind einstellbar.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Rechteck 36"/>
          <p:cNvSpPr/>
          <p:nvPr/>
        </p:nvSpPr>
        <p:spPr>
          <a:xfrm>
            <a:off x="192240" y="46256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Schnelle Einführung ohne Schulungsaufwand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Rechteck 37"/>
          <p:cNvSpPr/>
          <p:nvPr/>
        </p:nvSpPr>
        <p:spPr>
          <a:xfrm>
            <a:off x="6254640" y="462276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Dissatisfaction: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Wenn die Oberfläche zu komplex ist, wird sie nicht gerne genutzt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Rechteck 38"/>
          <p:cNvSpPr/>
          <p:nvPr/>
        </p:nvSpPr>
        <p:spPr>
          <a:xfrm>
            <a:off x="192240" y="50882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Priority: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Hoch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Rechteck 39"/>
          <p:cNvSpPr/>
          <p:nvPr/>
        </p:nvSpPr>
        <p:spPr>
          <a:xfrm>
            <a:off x="6254640" y="5086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Conflicts: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Höhere Barrierefreiheit kann die Designfreiheit einschränken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echteck 40"/>
          <p:cNvSpPr/>
          <p:nvPr/>
        </p:nvSpPr>
        <p:spPr>
          <a:xfrm>
            <a:off x="192240" y="55508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Supporting Materials: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Projektbeschreibung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Rechteck 41"/>
          <p:cNvSpPr/>
          <p:nvPr/>
        </p:nvSpPr>
        <p:spPr>
          <a:xfrm>
            <a:off x="192240" y="6013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History: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01.11.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2. Non-Functional Requirements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0" name="Rechteck 12"/>
          <p:cNvSpPr/>
          <p:nvPr/>
        </p:nvSpPr>
        <p:spPr>
          <a:xfrm>
            <a:off x="19224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#: NR-2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echteck 13"/>
          <p:cNvSpPr/>
          <p:nvPr/>
        </p:nvSpPr>
        <p:spPr>
          <a:xfrm>
            <a:off x="4277520" y="91080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Type: Non-Functional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Rechteck 14"/>
          <p:cNvSpPr/>
          <p:nvPr/>
        </p:nvSpPr>
        <p:spPr>
          <a:xfrm>
            <a:off x="868032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Event/BUC/PUC#: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echteck 15"/>
          <p:cNvSpPr/>
          <p:nvPr/>
        </p:nvSpPr>
        <p:spPr>
          <a:xfrm>
            <a:off x="192240" y="137052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Description: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Rechteck 22"/>
          <p:cNvSpPr/>
          <p:nvPr/>
        </p:nvSpPr>
        <p:spPr>
          <a:xfrm>
            <a:off x="1903320" y="137052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Es gibt ein Benutzer*innenhandbuch, das die einzelnen Funktionen der Software verständlich erklärt.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Rechteck 28"/>
          <p:cNvSpPr/>
          <p:nvPr/>
        </p:nvSpPr>
        <p:spPr>
          <a:xfrm>
            <a:off x="192240" y="23014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Rationale: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Rechteck 29"/>
          <p:cNvSpPr/>
          <p:nvPr/>
        </p:nvSpPr>
        <p:spPr>
          <a:xfrm>
            <a:off x="1903320" y="230148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Eine einfache Bedienung ist entscheidend, um fehlerfreie Nutzung zu gewährleisten. Dazu ist eine Erklärung der Funktionsweise der Software sehr wichtig. 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echteck 31"/>
          <p:cNvSpPr/>
          <p:nvPr/>
        </p:nvSpPr>
        <p:spPr>
          <a:xfrm>
            <a:off x="192240" y="32320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Originator: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Rechteck 32"/>
          <p:cNvSpPr/>
          <p:nvPr/>
        </p:nvSpPr>
        <p:spPr>
          <a:xfrm>
            <a:off x="1903320" y="3232080"/>
            <a:ext cx="100976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Mitarbeiter*innen des Bellis e.V.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hteck 34"/>
          <p:cNvSpPr/>
          <p:nvPr/>
        </p:nvSpPr>
        <p:spPr>
          <a:xfrm>
            <a:off x="192240" y="36946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Fit Criterion: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Rechteck 35"/>
          <p:cNvSpPr/>
          <p:nvPr/>
        </p:nvSpPr>
        <p:spPr>
          <a:xfrm>
            <a:off x="1903320" y="369468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Das Benutzer*innen Handbuch ist vorhanden und erklärt die Funktionen der Software verständlich, so dass zum Erlernen der korrekten Nutzung der Software nur das Benutzer*innenhandbuch nötig ist.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Rechteck 36"/>
          <p:cNvSpPr/>
          <p:nvPr/>
        </p:nvSpPr>
        <p:spPr>
          <a:xfrm>
            <a:off x="192240" y="46256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echteck 37"/>
          <p:cNvSpPr/>
          <p:nvPr/>
        </p:nvSpPr>
        <p:spPr>
          <a:xfrm>
            <a:off x="6254640" y="462276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Dissatisfaction: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echteck 38"/>
          <p:cNvSpPr/>
          <p:nvPr/>
        </p:nvSpPr>
        <p:spPr>
          <a:xfrm>
            <a:off x="192240" y="50882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Priority: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Hoch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Rechteck 39"/>
          <p:cNvSpPr/>
          <p:nvPr/>
        </p:nvSpPr>
        <p:spPr>
          <a:xfrm>
            <a:off x="6254640" y="5086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Conflicts: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echteck 40"/>
          <p:cNvSpPr/>
          <p:nvPr/>
        </p:nvSpPr>
        <p:spPr>
          <a:xfrm>
            <a:off x="192240" y="55508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Supporting Materials: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Projektbeschreibung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Rechteck 41"/>
          <p:cNvSpPr/>
          <p:nvPr/>
        </p:nvSpPr>
        <p:spPr>
          <a:xfrm>
            <a:off x="192240" y="6013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History: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Erstellt 02.11.2025, bearbeitet: -, letzte:r Bearbeiter:in Anton Schmierer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2. Non-Functional Requirements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8" name="Rechteck 12"/>
          <p:cNvSpPr/>
          <p:nvPr/>
        </p:nvSpPr>
        <p:spPr>
          <a:xfrm>
            <a:off x="19224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#: NR-3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Rechteck 13"/>
          <p:cNvSpPr/>
          <p:nvPr/>
        </p:nvSpPr>
        <p:spPr>
          <a:xfrm>
            <a:off x="4277520" y="91080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Type: Non-Functional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Rechteck 14"/>
          <p:cNvSpPr/>
          <p:nvPr/>
        </p:nvSpPr>
        <p:spPr>
          <a:xfrm>
            <a:off x="868032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Event/BUC/PUC#: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Rechteck 15"/>
          <p:cNvSpPr/>
          <p:nvPr/>
        </p:nvSpPr>
        <p:spPr>
          <a:xfrm>
            <a:off x="192240" y="137052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Description: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Rechteck 22"/>
          <p:cNvSpPr/>
          <p:nvPr/>
        </p:nvSpPr>
        <p:spPr>
          <a:xfrm>
            <a:off x="1903320" y="137052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Gesetzliche Anforderungen bzgl. DSGVO/Datensicherheit werden erfüllt.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Rechteck 28"/>
          <p:cNvSpPr/>
          <p:nvPr/>
        </p:nvSpPr>
        <p:spPr>
          <a:xfrm>
            <a:off x="192240" y="23014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Rationale: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Rechteck 29"/>
          <p:cNvSpPr/>
          <p:nvPr/>
        </p:nvSpPr>
        <p:spPr>
          <a:xfrm>
            <a:off x="1903320" y="230148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Gesetzliche Anforderungen müssen erfüllt und sensible Daten vor unberechtigtem Zugriff Dritter geschützt werden.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Rechteck 31"/>
          <p:cNvSpPr/>
          <p:nvPr/>
        </p:nvSpPr>
        <p:spPr>
          <a:xfrm>
            <a:off x="192240" y="32320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Originator: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Rechteck 32"/>
          <p:cNvSpPr/>
          <p:nvPr/>
        </p:nvSpPr>
        <p:spPr>
          <a:xfrm>
            <a:off x="1903320" y="3232080"/>
            <a:ext cx="100976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Mitarbeiter</a:t>
            </a:r>
            <a:r>
              <a:rPr b="0" lang="en-US" sz="1100" strike="noStrike" u="non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*innen </a:t>
            </a: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des Bellis e.V.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echteck 34"/>
          <p:cNvSpPr/>
          <p:nvPr/>
        </p:nvSpPr>
        <p:spPr>
          <a:xfrm>
            <a:off x="192240" y="36946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Fit Criterion: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Rechteck 35"/>
          <p:cNvSpPr/>
          <p:nvPr/>
        </p:nvSpPr>
        <p:spPr>
          <a:xfrm>
            <a:off x="1903320" y="369468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Die Software ist DSGVO-konform. Der unberechtigte Zugriff auf die Daten durch Dritte wird durch </a:t>
            </a:r>
            <a:r>
              <a:rPr b="0" lang="en-US" sz="1100" strike="noStrike" u="non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Verschlüsselung (?)</a:t>
            </a: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und Passwortschutz der zugreifenden Konten unterbunden.</a:t>
            </a:r>
            <a:r>
              <a:rPr b="0" lang="en-US" sz="1100" strike="noStrike" u="non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 </a:t>
            </a: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Rechteck 36"/>
          <p:cNvSpPr/>
          <p:nvPr/>
        </p:nvSpPr>
        <p:spPr>
          <a:xfrm>
            <a:off x="192240" y="46256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Rechteck 37"/>
          <p:cNvSpPr/>
          <p:nvPr/>
        </p:nvSpPr>
        <p:spPr>
          <a:xfrm>
            <a:off x="6254640" y="462276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Dissatisfaction: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echteck 38"/>
          <p:cNvSpPr/>
          <p:nvPr/>
        </p:nvSpPr>
        <p:spPr>
          <a:xfrm>
            <a:off x="192240" y="50882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Priority: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Hoch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echteck 39"/>
          <p:cNvSpPr/>
          <p:nvPr/>
        </p:nvSpPr>
        <p:spPr>
          <a:xfrm>
            <a:off x="6254640" y="5086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Conflicts: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Rechteck 40"/>
          <p:cNvSpPr/>
          <p:nvPr/>
        </p:nvSpPr>
        <p:spPr>
          <a:xfrm>
            <a:off x="192240" y="55508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Supporting Materials: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Projektbeschreibung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Rechteck 41"/>
          <p:cNvSpPr/>
          <p:nvPr/>
        </p:nvSpPr>
        <p:spPr>
          <a:xfrm>
            <a:off x="192240" y="6013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History: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Erstellt 02.11.2025, bearbeitet: -, letzte</a:t>
            </a:r>
            <a:r>
              <a:rPr b="0" lang="de-DE" sz="1100" strike="noStrike" u="non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:r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Bearbeiter:in Anton Schmierer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2. Non-Functional Requirements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6" name="Rechteck 12"/>
          <p:cNvSpPr/>
          <p:nvPr/>
        </p:nvSpPr>
        <p:spPr>
          <a:xfrm>
            <a:off x="19224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#: NR-4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echteck 13"/>
          <p:cNvSpPr/>
          <p:nvPr/>
        </p:nvSpPr>
        <p:spPr>
          <a:xfrm>
            <a:off x="4277520" y="91080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Type: Non-Functional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echteck 14"/>
          <p:cNvSpPr/>
          <p:nvPr/>
        </p:nvSpPr>
        <p:spPr>
          <a:xfrm>
            <a:off x="868032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Event/BUC/PUC#: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echteck 15"/>
          <p:cNvSpPr/>
          <p:nvPr/>
        </p:nvSpPr>
        <p:spPr>
          <a:xfrm>
            <a:off x="192240" y="137052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Description: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Rechteck 22"/>
          <p:cNvSpPr/>
          <p:nvPr/>
        </p:nvSpPr>
        <p:spPr>
          <a:xfrm>
            <a:off x="1903320" y="137052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System reagiert auf mit akzeptabler Verzögerung (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z. B. &lt; 1 Sekunde beim Öffnen von Dropdowns, &lt; 3 Sekunden beim Laden von Filterergebnissen)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echteck 28"/>
          <p:cNvSpPr/>
          <p:nvPr/>
        </p:nvSpPr>
        <p:spPr>
          <a:xfrm>
            <a:off x="192240" y="23014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Rationale: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echteck 29"/>
          <p:cNvSpPr/>
          <p:nvPr/>
        </p:nvSpPr>
        <p:spPr>
          <a:xfrm>
            <a:off x="1903320" y="230148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Lange Verzögerungen sind schädlich für eine angenehme Benutzung der Software. 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Rechteck 31"/>
          <p:cNvSpPr/>
          <p:nvPr/>
        </p:nvSpPr>
        <p:spPr>
          <a:xfrm>
            <a:off x="192240" y="32320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Originator: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Rechteck 32"/>
          <p:cNvSpPr/>
          <p:nvPr/>
        </p:nvSpPr>
        <p:spPr>
          <a:xfrm>
            <a:off x="1903320" y="3232080"/>
            <a:ext cx="100976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Mitarbeiter*innen des Bellis e.V.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Rechteck 34"/>
          <p:cNvSpPr/>
          <p:nvPr/>
        </p:nvSpPr>
        <p:spPr>
          <a:xfrm>
            <a:off x="192240" y="36946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Fit Criterion: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Rechteck 35"/>
          <p:cNvSpPr/>
          <p:nvPr/>
        </p:nvSpPr>
        <p:spPr>
          <a:xfrm>
            <a:off x="1903320" y="369468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 1 Sekunde beim Öffnen von Dropdowns, &lt; 3 Sekunden beim Laden von Filterergebnissen 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echteck 36"/>
          <p:cNvSpPr/>
          <p:nvPr/>
        </p:nvSpPr>
        <p:spPr>
          <a:xfrm>
            <a:off x="192240" y="46256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Rechteck 37"/>
          <p:cNvSpPr/>
          <p:nvPr/>
        </p:nvSpPr>
        <p:spPr>
          <a:xfrm>
            <a:off x="6254640" y="462276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Dissatisfaction: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hteck 38"/>
          <p:cNvSpPr/>
          <p:nvPr/>
        </p:nvSpPr>
        <p:spPr>
          <a:xfrm>
            <a:off x="192240" y="50882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Priority: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Hoch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Rechteck 39"/>
          <p:cNvSpPr/>
          <p:nvPr/>
        </p:nvSpPr>
        <p:spPr>
          <a:xfrm>
            <a:off x="6254640" y="5086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Conflicts: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Rechteck 40"/>
          <p:cNvSpPr/>
          <p:nvPr/>
        </p:nvSpPr>
        <p:spPr>
          <a:xfrm>
            <a:off x="192240" y="55508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Supporting Materials: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Projektbeschreibung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Rechteck 41"/>
          <p:cNvSpPr/>
          <p:nvPr/>
        </p:nvSpPr>
        <p:spPr>
          <a:xfrm>
            <a:off x="192240" y="6013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History: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03.11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2. Non-Functional Requirements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4" name="Rechteck 1"/>
          <p:cNvSpPr/>
          <p:nvPr/>
        </p:nvSpPr>
        <p:spPr>
          <a:xfrm>
            <a:off x="19224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#: NR-5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echteck 2"/>
          <p:cNvSpPr/>
          <p:nvPr/>
        </p:nvSpPr>
        <p:spPr>
          <a:xfrm>
            <a:off x="4277520" y="91080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Type: Non-Functional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Rechteck 3"/>
          <p:cNvSpPr/>
          <p:nvPr/>
        </p:nvSpPr>
        <p:spPr>
          <a:xfrm>
            <a:off x="868032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Event/BUC/PUC#: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chteck 4"/>
          <p:cNvSpPr/>
          <p:nvPr/>
        </p:nvSpPr>
        <p:spPr>
          <a:xfrm>
            <a:off x="192240" y="137052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Description: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Rechteck 5"/>
          <p:cNvSpPr/>
          <p:nvPr/>
        </p:nvSpPr>
        <p:spPr>
          <a:xfrm>
            <a:off x="1903320" y="137052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Hinsichtlich der Usability soll eine Barrierefreiheit gewährleistet sein, wobei besonders visuelle Einschränkungen beachtet werden sollen.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echteck 6"/>
          <p:cNvSpPr/>
          <p:nvPr/>
        </p:nvSpPr>
        <p:spPr>
          <a:xfrm>
            <a:off x="192240" y="23014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Rationale: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Rechteck 7"/>
          <p:cNvSpPr/>
          <p:nvPr/>
        </p:nvSpPr>
        <p:spPr>
          <a:xfrm>
            <a:off x="1903320" y="230148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Alle Mitarbeiter:innen sollen die Oberfläche nutzen können, auch wenn visuelle Einschränkungen vorhanden sind. 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Rechteck 8"/>
          <p:cNvSpPr/>
          <p:nvPr/>
        </p:nvSpPr>
        <p:spPr>
          <a:xfrm>
            <a:off x="192240" y="32320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Originator: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Rechteck 9"/>
          <p:cNvSpPr/>
          <p:nvPr/>
        </p:nvSpPr>
        <p:spPr>
          <a:xfrm>
            <a:off x="1903320" y="3232080"/>
            <a:ext cx="100976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Mitarbeiter*innen des Bellis e.V.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Rechteck 10"/>
          <p:cNvSpPr/>
          <p:nvPr/>
        </p:nvSpPr>
        <p:spPr>
          <a:xfrm>
            <a:off x="192240" y="36946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Fit Criterion: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Rechteck 11"/>
          <p:cNvSpPr/>
          <p:nvPr/>
        </p:nvSpPr>
        <p:spPr>
          <a:xfrm>
            <a:off x="1903320" y="369468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  <a:ea typeface="Noto Sans CJK SC"/>
              </a:rPr>
              <a:t>Die Schriftgröße kann angepasst, der Kontrast erhöht und ein Blaufilter eingestellt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werden.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Rechteck 16"/>
          <p:cNvSpPr/>
          <p:nvPr/>
        </p:nvSpPr>
        <p:spPr>
          <a:xfrm>
            <a:off x="192240" y="46256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Rechteck 17"/>
          <p:cNvSpPr/>
          <p:nvPr/>
        </p:nvSpPr>
        <p:spPr>
          <a:xfrm>
            <a:off x="6254640" y="462276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Dissatisfaction: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Rechteck 18"/>
          <p:cNvSpPr/>
          <p:nvPr/>
        </p:nvSpPr>
        <p:spPr>
          <a:xfrm>
            <a:off x="192240" y="50882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Priority: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Mittel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Rechteck 19"/>
          <p:cNvSpPr/>
          <p:nvPr/>
        </p:nvSpPr>
        <p:spPr>
          <a:xfrm>
            <a:off x="6254640" y="5086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Conflicts: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Rechteck 20"/>
          <p:cNvSpPr/>
          <p:nvPr/>
        </p:nvSpPr>
        <p:spPr>
          <a:xfrm>
            <a:off x="192240" y="55508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Supporting Materials: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Eye-Able-Assistent der Website: https://bellis-leipzig.de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Rechteck 21"/>
          <p:cNvSpPr/>
          <p:nvPr/>
        </p:nvSpPr>
        <p:spPr>
          <a:xfrm>
            <a:off x="192240" y="6013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History: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erstellt am 03.11., letzte Bearbeiter:in Miriam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1343160" y="152280"/>
            <a:ext cx="1065636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28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2. Non-Functional Requirements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2" name="Rechteck 23"/>
          <p:cNvSpPr/>
          <p:nvPr/>
        </p:nvSpPr>
        <p:spPr>
          <a:xfrm>
            <a:off x="19224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#: NR-6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Rechteck 24"/>
          <p:cNvSpPr/>
          <p:nvPr/>
        </p:nvSpPr>
        <p:spPr>
          <a:xfrm>
            <a:off x="4277520" y="91080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Requirement Type: Non-Functional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Rechteck 25"/>
          <p:cNvSpPr/>
          <p:nvPr/>
        </p:nvSpPr>
        <p:spPr>
          <a:xfrm>
            <a:off x="8680320" y="907920"/>
            <a:ext cx="331920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Event/BUC/PUC#: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Rechteck 26"/>
          <p:cNvSpPr/>
          <p:nvPr/>
        </p:nvSpPr>
        <p:spPr>
          <a:xfrm>
            <a:off x="192240" y="137052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Description: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echteck 27"/>
          <p:cNvSpPr/>
          <p:nvPr/>
        </p:nvSpPr>
        <p:spPr>
          <a:xfrm>
            <a:off x="1903320" y="137052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Die Farben der Nutzer:innenoberfläche soll sich an den Farben der Webseite und des Vereins orientieren (blau und gelb)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Rechteck 30"/>
          <p:cNvSpPr/>
          <p:nvPr/>
        </p:nvSpPr>
        <p:spPr>
          <a:xfrm>
            <a:off x="192240" y="23014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Rationale: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Rechteck 33"/>
          <p:cNvSpPr/>
          <p:nvPr/>
        </p:nvSpPr>
        <p:spPr>
          <a:xfrm>
            <a:off x="1903320" y="230148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Die Oberfläche wirkt vertrauter und passt sich an das Schema des Vereins an.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Rechteck 42"/>
          <p:cNvSpPr/>
          <p:nvPr/>
        </p:nvSpPr>
        <p:spPr>
          <a:xfrm>
            <a:off x="192240" y="32320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Originator: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Rechteck 43"/>
          <p:cNvSpPr/>
          <p:nvPr/>
        </p:nvSpPr>
        <p:spPr>
          <a:xfrm>
            <a:off x="1903320" y="3232080"/>
            <a:ext cx="100976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Mitarbeiter*innen des Bellis e.V.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Rechteck 44"/>
          <p:cNvSpPr/>
          <p:nvPr/>
        </p:nvSpPr>
        <p:spPr>
          <a:xfrm>
            <a:off x="192240" y="3694680"/>
            <a:ext cx="137484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Fit Criterion:</a:t>
            </a: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Rechteck 45"/>
          <p:cNvSpPr/>
          <p:nvPr/>
        </p:nvSpPr>
        <p:spPr>
          <a:xfrm>
            <a:off x="1903320" y="3694680"/>
            <a:ext cx="10097640" cy="791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Die Oberfläche beinhaltet die Farben blau und gelb.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de-D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Rechteck 46"/>
          <p:cNvSpPr/>
          <p:nvPr/>
        </p:nvSpPr>
        <p:spPr>
          <a:xfrm>
            <a:off x="192240" y="46256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Rechteck 47"/>
          <p:cNvSpPr/>
          <p:nvPr/>
        </p:nvSpPr>
        <p:spPr>
          <a:xfrm>
            <a:off x="6254640" y="462276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Customer Dissatisfaction: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1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Rechteck 48"/>
          <p:cNvSpPr/>
          <p:nvPr/>
        </p:nvSpPr>
        <p:spPr>
          <a:xfrm>
            <a:off x="192240" y="50882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Priority: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Niedrig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Rechteck 49"/>
          <p:cNvSpPr/>
          <p:nvPr/>
        </p:nvSpPr>
        <p:spPr>
          <a:xfrm>
            <a:off x="6254640" y="5086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Conflicts: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Rechteck 50"/>
          <p:cNvSpPr/>
          <p:nvPr/>
        </p:nvSpPr>
        <p:spPr>
          <a:xfrm>
            <a:off x="192240" y="55508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Supporting Materials: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Webseite: https://bellis-leipzig.de/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Rechteck 51"/>
          <p:cNvSpPr/>
          <p:nvPr/>
        </p:nvSpPr>
        <p:spPr>
          <a:xfrm>
            <a:off x="192240" y="6013440"/>
            <a:ext cx="5744880" cy="323640"/>
          </a:xfrm>
          <a:prstGeom prst="rect">
            <a:avLst/>
          </a:prstGeom>
          <a:solidFill>
            <a:schemeClr val="bg1"/>
          </a:solidFill>
          <a:ln w="635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de-DE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History: </a:t>
            </a:r>
            <a:r>
              <a:rPr b="0" lang="de-DE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erstellt am 03.11., letzte Bearbeiter:in Miriam</a:t>
            </a:r>
            <a:endParaRPr b="0" lang="de-DE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UC Startfolie">
  <a:themeElements>
    <a:clrScheme name="Benutzerdefiniert 1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4">
      <a:majorFont>
        <a:latin typeface="Arial" pitchFamily="0" charset="1"/>
        <a:ea typeface=""/>
        <a:cs typeface="Arial" pitchFamily="0" charset="1"/>
      </a:majorFont>
      <a:minorFont>
        <a:latin typeface="Arial" pitchFamily="0" charset="1"/>
        <a:ea typeface="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UC Folgefolien ">
  <a:themeElements>
    <a:clrScheme name="Benutzerdefiniert 2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INFO_KH</Template>
  <TotalTime>23</TotalTime>
  <Application>LibreOffice/25.2.6.2$Linux_X86_64 LibreOffice_project/40d1a0e1d5bdf1afaeae24d9ece32bbb00fa66a4</Application>
  <AppVersion>15.0000</AppVersion>
  <Words>1069</Words>
  <Paragraphs>170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category>Corporate Design der TU Chemnitz</cp:category>
  <dcterms:created xsi:type="dcterms:W3CDTF">2025-10-30T14:38:09Z</dcterms:created>
  <dc:creator>Mohammad Rajeh</dc:creator>
  <dc:description/>
  <dc:language>de-DE</dc:language>
  <cp:lastModifiedBy/>
  <cp:lastPrinted>2015-10-30T11:33:42Z</cp:lastPrinted>
  <dcterms:modified xsi:type="dcterms:W3CDTF">2025-11-03T11:03:23Z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Breitbild</vt:lpwstr>
  </property>
  <property fmtid="{D5CDD505-2E9C-101B-9397-08002B2CF9AE}" pid="4" name="Slides">
    <vt:i4>10</vt:i4>
  </property>
</Properties>
</file>