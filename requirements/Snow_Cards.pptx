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9928225" cy="67976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Folie mittels Klicken verschieben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C54E6B-4414-4CD8-A792-B56BE1080B43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4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6DA5DE-47C9-4C9D-81D9-5E972DD5427C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5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9B8B9B-A262-4879-81D9-91ED54831BC8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6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A29216-A58B-40D0-827B-E6CD1C3D79F0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7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995163-6A13-4654-BC14-EF1E2F8AC9DE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8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A07335-6246-4DE7-9FED-E00D65BA8B2C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9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17844D-7174-4D5E-A8AD-F94AB811D0EC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0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375B9D-7088-4ECF-9877-0A20DE13762B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1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05F5F3-2463-4DD5-BA72-A0A0997E6815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2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1AFEE5-CBA3-4B02-916E-A81C19A9C424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3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D034BB-3767-4B85-8589-9A72C2F989AE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4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535751-EAF4-4F63-82BD-5039DA86EA34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2698920" y="509760"/>
            <a:ext cx="4529880" cy="25488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992520" y="3228120"/>
            <a:ext cx="7942680" cy="305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5"/>
          </p:nvPr>
        </p:nvSpPr>
        <p:spPr>
          <a:xfrm>
            <a:off x="5622480" y="6456240"/>
            <a:ext cx="430272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2160" rIns="9216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237795-3B7F-4B7B-8CC1-E15394E1CDFC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de-D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egm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hteck 8"/>
          <p:cNvSpPr/>
          <p:nvPr/>
        </p:nvSpPr>
        <p:spPr>
          <a:xfrm>
            <a:off x="0" y="0"/>
            <a:ext cx="12191400" cy="1511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061360" y="333360"/>
            <a:ext cx="720" cy="82764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cxnSp>
        <p:nvCxnSpPr>
          <p:cNvPr id="2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3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rafik 2" descr=""/>
          <p:cNvPicPr/>
          <p:nvPr/>
        </p:nvPicPr>
        <p:blipFill>
          <a:blip r:embed="rId2"/>
          <a:stretch/>
        </p:blipFill>
        <p:spPr>
          <a:xfrm>
            <a:off x="334800" y="333360"/>
            <a:ext cx="1387440" cy="8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87520" y="266760"/>
            <a:ext cx="9503640" cy="8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Click to edit Master title style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34800" y="1776240"/>
            <a:ext cx="11556360" cy="44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0" y="2421000"/>
            <a:ext cx="12191400" cy="409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delsberg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12191400" cy="1511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061360" y="333360"/>
            <a:ext cx="720" cy="82764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cxnSp>
        <p:nvCxnSpPr>
          <p:cNvPr id="11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12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Grafik 2" descr=""/>
          <p:cNvPicPr/>
          <p:nvPr/>
        </p:nvPicPr>
        <p:blipFill>
          <a:blip r:embed="rId2"/>
          <a:stretch/>
        </p:blipFill>
        <p:spPr>
          <a:xfrm>
            <a:off x="334800" y="333360"/>
            <a:ext cx="1387440" cy="8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87520" y="266760"/>
            <a:ext cx="9503640" cy="8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Click to edit Master title style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34800" y="1776240"/>
            <a:ext cx="11556360" cy="44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0" y="2421000"/>
            <a:ext cx="2710800" cy="24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711520" y="2421000"/>
            <a:ext cx="5224320" cy="24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7940160" y="2421000"/>
            <a:ext cx="4251240" cy="24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body"/>
          </p:nvPr>
        </p:nvSpPr>
        <p:spPr>
          <a:xfrm>
            <a:off x="334800" y="5200920"/>
            <a:ext cx="1404360" cy="99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Logo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 type="body"/>
          </p:nvPr>
        </p:nvSpPr>
        <p:spPr>
          <a:xfrm>
            <a:off x="2387520" y="5139360"/>
            <a:ext cx="9503640" cy="106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lös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8"/>
          <p:cNvSpPr/>
          <p:nvPr/>
        </p:nvSpPr>
        <p:spPr>
          <a:xfrm>
            <a:off x="0" y="0"/>
            <a:ext cx="12191400" cy="1511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061360" y="333360"/>
            <a:ext cx="720" cy="82764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cxnSp>
        <p:nvCxnSpPr>
          <p:cNvPr id="24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25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Grafik 2" descr=""/>
          <p:cNvPicPr/>
          <p:nvPr/>
        </p:nvPicPr>
        <p:blipFill>
          <a:blip r:embed="rId2"/>
          <a:stretch/>
        </p:blipFill>
        <p:spPr>
          <a:xfrm>
            <a:off x="334800" y="333360"/>
            <a:ext cx="1387440" cy="8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387520" y="266760"/>
            <a:ext cx="9503640" cy="8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Click to edit Master title style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34800" y="1844640"/>
            <a:ext cx="1404360" cy="138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Logo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2711520" y="1775520"/>
            <a:ext cx="9179640" cy="5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2711520" y="2421000"/>
            <a:ext cx="9479880" cy="409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ßberg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8"/>
          <p:cNvSpPr/>
          <p:nvPr/>
        </p:nvSpPr>
        <p:spPr>
          <a:xfrm>
            <a:off x="0" y="0"/>
            <a:ext cx="12191400" cy="1511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33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061360" y="333360"/>
            <a:ext cx="720" cy="82764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  <p:cxnSp>
        <p:nvCxnSpPr>
          <p:cNvPr id="34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35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Grafik 2" descr=""/>
          <p:cNvPicPr/>
          <p:nvPr/>
        </p:nvPicPr>
        <p:blipFill>
          <a:blip r:embed="rId2"/>
          <a:stretch/>
        </p:blipFill>
        <p:spPr>
          <a:xfrm>
            <a:off x="334800" y="333360"/>
            <a:ext cx="1387440" cy="8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387520" y="266760"/>
            <a:ext cx="9503640" cy="8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Click to edit Master title style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0" y="1484280"/>
            <a:ext cx="3169080" cy="31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177720" y="1484280"/>
            <a:ext cx="4929480" cy="31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8115480" y="1484280"/>
            <a:ext cx="4075920" cy="31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icon to add picture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334800" y="4938480"/>
            <a:ext cx="1155636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ichenhai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hteck 8"/>
          <p:cNvSpPr/>
          <p:nvPr/>
        </p:nvSpPr>
        <p:spPr>
          <a:xfrm>
            <a:off x="0" y="360"/>
            <a:ext cx="12191400" cy="763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44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66760" y="152640"/>
            <a:ext cx="720" cy="468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cxnSp>
        <p:nvCxnSpPr>
          <p:cNvPr id="45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46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ußzeilenplatzhalter 4"/>
          <p:cNvSpPr/>
          <p:nvPr/>
        </p:nvSpPr>
        <p:spPr>
          <a:xfrm>
            <a:off x="4655880" y="6526800"/>
            <a:ext cx="55922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fld id="{9B3233E1-13D6-494B-912D-A0B441BA9CB5}" type="slidenum"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Grafik 9" descr=""/>
          <p:cNvPicPr/>
          <p:nvPr/>
        </p:nvPicPr>
        <p:blipFill>
          <a:blip r:embed="rId2"/>
          <a:stretch/>
        </p:blipFill>
        <p:spPr>
          <a:xfrm>
            <a:off x="192240" y="152280"/>
            <a:ext cx="784800" cy="4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Titelmasterformat durch Klicken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92240" y="907920"/>
            <a:ext cx="118072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192240" y="1996560"/>
            <a:ext cx="11807280" cy="43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ub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8"/>
          <p:cNvSpPr/>
          <p:nvPr/>
        </p:nvSpPr>
        <p:spPr>
          <a:xfrm>
            <a:off x="0" y="360"/>
            <a:ext cx="12191400" cy="763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54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66760" y="152640"/>
            <a:ext cx="720" cy="468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cxnSp>
        <p:nvCxnSpPr>
          <p:cNvPr id="55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56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ußzeilenplatzhalter 4"/>
          <p:cNvSpPr/>
          <p:nvPr/>
        </p:nvSpPr>
        <p:spPr>
          <a:xfrm>
            <a:off x="4655880" y="6526800"/>
            <a:ext cx="55922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fld id="{C87D6DEF-A79F-41B0-B729-DD4C4C3530F4}" type="slidenum"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Grafik 9" descr=""/>
          <p:cNvPicPr/>
          <p:nvPr/>
        </p:nvPicPr>
        <p:blipFill>
          <a:blip r:embed="rId2"/>
          <a:stretch/>
        </p:blipFill>
        <p:spPr>
          <a:xfrm>
            <a:off x="192240" y="152280"/>
            <a:ext cx="784800" cy="4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Titelmasterformat durch Klicken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92240" y="907920"/>
            <a:ext cx="118072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92240" y="2060640"/>
            <a:ext cx="579528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03880" y="2060640"/>
            <a:ext cx="579528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insied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eck 8"/>
          <p:cNvSpPr/>
          <p:nvPr/>
        </p:nvSpPr>
        <p:spPr>
          <a:xfrm>
            <a:off x="0" y="360"/>
            <a:ext cx="12191400" cy="763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65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66760" y="152640"/>
            <a:ext cx="720" cy="468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cxnSp>
        <p:nvCxnSpPr>
          <p:cNvPr id="66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67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ußzeilenplatzhalter 4"/>
          <p:cNvSpPr/>
          <p:nvPr/>
        </p:nvSpPr>
        <p:spPr>
          <a:xfrm>
            <a:off x="4655880" y="6526800"/>
            <a:ext cx="55922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fld id="{539A8E66-CDB3-41E4-8098-8945B78335CE}" type="slidenum"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Grafik 9" descr=""/>
          <p:cNvPicPr/>
          <p:nvPr/>
        </p:nvPicPr>
        <p:blipFill>
          <a:blip r:embed="rId2"/>
          <a:stretch/>
        </p:blipFill>
        <p:spPr>
          <a:xfrm>
            <a:off x="192240" y="152280"/>
            <a:ext cx="784800" cy="4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Titelmasterformat durch Klicken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92240" y="907920"/>
            <a:ext cx="118072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92240" y="2060640"/>
            <a:ext cx="5795280" cy="236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92240" y="4618800"/>
            <a:ext cx="5795280" cy="172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03880" y="2060640"/>
            <a:ext cx="5795280" cy="236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6203880" y="4618800"/>
            <a:ext cx="5795280" cy="172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abenstei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hteck 8"/>
          <p:cNvSpPr/>
          <p:nvPr/>
        </p:nvSpPr>
        <p:spPr>
          <a:xfrm>
            <a:off x="0" y="360"/>
            <a:ext cx="12191400" cy="763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8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66760" y="152640"/>
            <a:ext cx="720" cy="468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cxnSp>
        <p:nvCxnSpPr>
          <p:cNvPr id="79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80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ußzeilenplatzhalter 4"/>
          <p:cNvSpPr/>
          <p:nvPr/>
        </p:nvSpPr>
        <p:spPr>
          <a:xfrm>
            <a:off x="4655880" y="6526800"/>
            <a:ext cx="55922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fld id="{97FE8BCE-4A73-4830-8219-ACC4BD7A0F31}" type="slidenum"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rafik 9" descr=""/>
          <p:cNvPicPr/>
          <p:nvPr/>
        </p:nvPicPr>
        <p:blipFill>
          <a:blip r:embed="rId2"/>
          <a:stretch/>
        </p:blipFill>
        <p:spPr>
          <a:xfrm>
            <a:off x="192240" y="152280"/>
            <a:ext cx="784800" cy="4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Titelmasterformat durch Klicken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192240" y="907920"/>
            <a:ext cx="118072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192240" y="2060640"/>
            <a:ext cx="370764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116240" y="2060640"/>
            <a:ext cx="788292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rfenschlag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hteck 8"/>
          <p:cNvSpPr/>
          <p:nvPr/>
        </p:nvSpPr>
        <p:spPr>
          <a:xfrm>
            <a:off x="0" y="360"/>
            <a:ext cx="12191400" cy="763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9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66760" y="152640"/>
            <a:ext cx="720" cy="468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cxnSp>
        <p:nvCxnSpPr>
          <p:cNvPr id="90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91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ußzeilenplatzhalter 4"/>
          <p:cNvSpPr/>
          <p:nvPr/>
        </p:nvSpPr>
        <p:spPr>
          <a:xfrm>
            <a:off x="4655880" y="6526800"/>
            <a:ext cx="55922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fld id="{6EA2CE39-33FE-4CFE-92DE-CC87098E9290}" type="slidenum"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Grafik 9" descr=""/>
          <p:cNvPicPr/>
          <p:nvPr/>
        </p:nvPicPr>
        <p:blipFill>
          <a:blip r:embed="rId2"/>
          <a:stretch/>
        </p:blipFill>
        <p:spPr>
          <a:xfrm>
            <a:off x="192240" y="152280"/>
            <a:ext cx="784800" cy="4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Titelmasterformat durch Klicken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192240" y="907920"/>
            <a:ext cx="789840" cy="92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Logo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1558800" y="907920"/>
            <a:ext cx="1044036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1558800" y="1996560"/>
            <a:ext cx="10440360" cy="43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ablenz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hteck 8"/>
          <p:cNvSpPr/>
          <p:nvPr/>
        </p:nvSpPr>
        <p:spPr>
          <a:xfrm>
            <a:off x="0" y="360"/>
            <a:ext cx="12191400" cy="763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0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66760" y="152640"/>
            <a:ext cx="720" cy="4687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cxnSp>
        <p:nvCxnSpPr>
          <p:cNvPr id="101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0" y="6525000"/>
            <a:ext cx="12192480" cy="720"/>
          </a:xfrm>
          <a:prstGeom prst="straightConnector1">
            <a:avLst/>
          </a:prstGeom>
          <a:ln w="12700">
            <a:solidFill>
              <a:schemeClr val="dk1">
                <a:alpha val="40000"/>
              </a:schemeClr>
            </a:solidFill>
            <a:round/>
          </a:ln>
        </p:spPr>
      </p:cxnSp>
      <p:sp>
        <p:nvSpPr>
          <p:cNvPr id="102" name="Rectangle 5"/>
          <p:cNvSpPr/>
          <p:nvPr/>
        </p:nvSpPr>
        <p:spPr>
          <a:xfrm>
            <a:off x="8252640" y="6525360"/>
            <a:ext cx="3746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www.tu-chemnitz.de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ußzeilenplatzhalter 4"/>
          <p:cNvSpPr/>
          <p:nvPr/>
        </p:nvSpPr>
        <p:spPr>
          <a:xfrm>
            <a:off x="4655880" y="6526800"/>
            <a:ext cx="55922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fld id="{7DD59880-AFE6-4AAA-8E3E-50839870C657}" type="slidenum"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&lt;Foliennummer&gt;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4"/>
          <p:cNvSpPr/>
          <p:nvPr/>
        </p:nvSpPr>
        <p:spPr>
          <a:xfrm>
            <a:off x="192240" y="6525360"/>
            <a:ext cx="575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Chemnitz ∙ 05. November 2025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rafik 9" descr=""/>
          <p:cNvPicPr/>
          <p:nvPr/>
        </p:nvPicPr>
        <p:blipFill>
          <a:blip r:embed="rId2"/>
          <a:stretch/>
        </p:blipFill>
        <p:spPr>
          <a:xfrm>
            <a:off x="192240" y="152280"/>
            <a:ext cx="784800" cy="4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Titelmasterformat durch Klicken bearbeiten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192240" y="907920"/>
            <a:ext cx="1180728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192240" y="1376280"/>
            <a:ext cx="3779280" cy="190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192240" y="3497760"/>
            <a:ext cx="3779280" cy="28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151880" y="1376280"/>
            <a:ext cx="3851640" cy="190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body"/>
          </p:nvPr>
        </p:nvSpPr>
        <p:spPr>
          <a:xfrm>
            <a:off x="4151160" y="3497760"/>
            <a:ext cx="3852000" cy="28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body"/>
          </p:nvPr>
        </p:nvSpPr>
        <p:spPr>
          <a:xfrm>
            <a:off x="8184240" y="1376280"/>
            <a:ext cx="3814920" cy="190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Bild durch Klicken auf Symbol hinzufügen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8"/>
          <p:cNvSpPr>
            <a:spLocks noGrp="1"/>
          </p:cNvSpPr>
          <p:nvPr>
            <p:ph type="body"/>
          </p:nvPr>
        </p:nvSpPr>
        <p:spPr>
          <a:xfrm>
            <a:off x="8183520" y="3497760"/>
            <a:ext cx="3815640" cy="28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Textmasterformat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Zweite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Vierte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Fünfte Ebene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87520" y="266760"/>
            <a:ext cx="9503640" cy="89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Softwarepraktikum WS25/26</a:t>
            </a:r>
            <a:br>
              <a:rPr sz="2800"/>
            </a:br>
            <a:br>
              <a:rPr sz="2800"/>
            </a:br>
            <a:br>
              <a:rPr sz="2800"/>
            </a:b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334800" y="1776240"/>
            <a:ext cx="116773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Meilenstein 1: Requirements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Abgabe: 05.11.2025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platzhalter 5"/>
          <p:cNvSpPr/>
          <p:nvPr/>
        </p:nvSpPr>
        <p:spPr>
          <a:xfrm>
            <a:off x="889200" y="2927880"/>
            <a:ext cx="4134960" cy="31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Anton Schmierer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Hanna Scheudeck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Pia Scheffelmaier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Mohammed Rajeh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Gliederung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39320" y="1394640"/>
            <a:ext cx="11912400" cy="44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1. Functional Requirements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Gliederung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39320" y="1394640"/>
            <a:ext cx="11912400" cy="44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Es folgen die Templates für beide Arten von Requirements. Kopiert euch diese und verändert die Templates bitte nicht.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Vorschlag für die Nummerierung der Requirements: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Functional: FR-1, FR-2 usw.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Non-Functional: NR-1, NR-2 usw.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1. 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FR-1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hteck 13"/>
          <p:cNvSpPr/>
          <p:nvPr/>
        </p:nvSpPr>
        <p:spPr>
          <a:xfrm>
            <a:off x="443628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BUC-01-Datenerfassung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hteck 15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hteck 22"/>
          <p:cNvSpPr/>
          <p:nvPr/>
        </p:nvSpPr>
        <p:spPr>
          <a:xfrm>
            <a:off x="1903320" y="1370520"/>
            <a:ext cx="1009584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Das System soll Mitarbeiter*innen ermöglichen, neue Anfragen und Beratungsfälle über eine benutzerfreundliche Eingabemaske zu erfassen. Es gibt zwei Arten von Datensätzem:  Anfrage (Erstkontakt bzw. Terminvereinbarung) und Beratungsfall (laufende Beratung). Beim Speichern werden Pflichtfelder überprüft: fehlende Angaben werden mit Fehlermeldung angezeigt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hteck 28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hteck 29"/>
          <p:cNvSpPr/>
          <p:nvPr/>
        </p:nvSpPr>
        <p:spPr>
          <a:xfrm>
            <a:off x="1903320" y="2301480"/>
            <a:ext cx="1009584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Der Kernprozess des Systems ist die Datenerfassung. Die Erfassung soll difital und strukturiert erfolgen. Das reduziert den Arbeitsaufwand der Mitglieder*innen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hteck 31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hteck 32"/>
          <p:cNvSpPr/>
          <p:nvPr/>
        </p:nvSpPr>
        <p:spPr>
          <a:xfrm>
            <a:off x="1903320" y="3232080"/>
            <a:ext cx="10095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hteck 3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hteck 35"/>
          <p:cNvSpPr/>
          <p:nvPr/>
        </p:nvSpPr>
        <p:spPr>
          <a:xfrm>
            <a:off x="1903320" y="3694680"/>
            <a:ext cx="1009584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können Schneller eine vollständige Anfrage oder Beratungsfall erfassen. Alle Pflichtfelder werden überprüft und Fehlermeldungen sind verständlich formuliert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Schnellere Dokumentation &amp; schnellere Eingabe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Ohne diese Funktion bleibt der Erfassungsprozess unübersichtlich und die Fehleranfälligkeit bleibt 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Bei zu vielen Pflichtfeldern kann die Erfassung als zu aufwendig empfunden werden.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Projektbeschreibung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hteck 4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01.11.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1. 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FR-2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hteck 13"/>
          <p:cNvSpPr/>
          <p:nvPr/>
        </p:nvSpPr>
        <p:spPr>
          <a:xfrm>
            <a:off x="443628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 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hteck 15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hteck 22"/>
          <p:cNvSpPr/>
          <p:nvPr/>
        </p:nvSpPr>
        <p:spPr>
          <a:xfrm>
            <a:off x="189936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Berechnung und Export von Statistiken aus gespeicherten Daten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Erstellen und Nutzen von Filtern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Export der Statistiken (pdf xlsx, csv)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hteck 28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hteck 29"/>
          <p:cNvSpPr/>
          <p:nvPr/>
        </p:nvSpPr>
        <p:spPr>
          <a:xfrm>
            <a:off x="189936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Eines der grundlegenden Ziele der Software ist es, die Erstellung von Statistiken zu vereinfachen, die von den jeweiligen Beratungsstellen gebraucht werden. 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hteck 31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hteck 32"/>
          <p:cNvSpPr/>
          <p:nvPr/>
        </p:nvSpPr>
        <p:spPr>
          <a:xfrm>
            <a:off x="189936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hteck 3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hteck 35"/>
          <p:cNvSpPr/>
          <p:nvPr/>
        </p:nvSpPr>
        <p:spPr>
          <a:xfrm>
            <a:off x="189936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 ist möglich korrekte Statistiken zu exportieren. Filter lassen sich erstellen und sind speicherbar.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-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Anforderungsbeschreibung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hteck 4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03.11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1. 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FR-5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hteck 13"/>
          <p:cNvSpPr/>
          <p:nvPr/>
        </p:nvSpPr>
        <p:spPr>
          <a:xfrm>
            <a:off x="443628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 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hteck 15"/>
          <p:cNvSpPr/>
          <p:nvPr/>
        </p:nvSpPr>
        <p:spPr>
          <a:xfrm>
            <a:off x="192240" y="1370520"/>
            <a:ext cx="1374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hteck 22"/>
          <p:cNvSpPr/>
          <p:nvPr/>
        </p:nvSpPr>
        <p:spPr>
          <a:xfrm>
            <a:off x="1903320" y="1370520"/>
            <a:ext cx="1009584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Das System benötigt passwortgeschützte Konten mit abgestuften Rechten:  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  - </a:t>
            </a:r>
            <a:r>
              <a:rPr b="1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Basiskonto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Datensätze erfassen/bearbeiten, Statistiken abrufen, selbsterstellte Presets speichern/löschen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  - </a:t>
            </a:r>
            <a:r>
              <a:rPr b="1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Erweiterungskonto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Zusätzlich neue Formularfelder und geteilte Presets verwalten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  - </a:t>
            </a:r>
            <a:r>
              <a:rPr b="1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Administrationskonto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Zusätzlich Benutzerkonten verwalten (anlegen, Rechte zuweisen/entziehen, löschen)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Es muss immer mindestens ein Konto mit Administrationsrechten existieren (empfohlen zwei)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hteck 28"/>
          <p:cNvSpPr/>
          <p:nvPr/>
        </p:nvSpPr>
        <p:spPr>
          <a:xfrm>
            <a:off x="192240" y="2301480"/>
            <a:ext cx="1374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hteck 29"/>
          <p:cNvSpPr/>
          <p:nvPr/>
        </p:nvSpPr>
        <p:spPr>
          <a:xfrm>
            <a:off x="1903320" y="2301480"/>
            <a:ext cx="1009584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Sicherheit der Daten und Vermeidung von Überforderung durch unnötig viele Optionen. Principle of least required privilege.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hteck 31"/>
          <p:cNvSpPr/>
          <p:nvPr/>
        </p:nvSpPr>
        <p:spPr>
          <a:xfrm>
            <a:off x="192240" y="3232080"/>
            <a:ext cx="1374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hteck 32"/>
          <p:cNvSpPr/>
          <p:nvPr/>
        </p:nvSpPr>
        <p:spPr>
          <a:xfrm>
            <a:off x="1903320" y="3232080"/>
            <a:ext cx="10095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hteck 34"/>
          <p:cNvSpPr/>
          <p:nvPr/>
        </p:nvSpPr>
        <p:spPr>
          <a:xfrm>
            <a:off x="192240" y="3694680"/>
            <a:ext cx="1374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hteck 35"/>
          <p:cNvSpPr/>
          <p:nvPr/>
        </p:nvSpPr>
        <p:spPr>
          <a:xfrm>
            <a:off x="1903320" y="3694680"/>
            <a:ext cx="1009584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Die Konten sind passwortgeschützt und mit den entsprechenden Berechtigungen ausgestattet. Es gibt mindestens ein Administrationskonto.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Anforderungsbeschreibung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hteck 41"/>
          <p:cNvSpPr/>
          <p:nvPr/>
        </p:nvSpPr>
        <p:spPr>
          <a:xfrm>
            <a:off x="192240" y="60213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</a:t>
            </a:r>
            <a:r>
              <a:rPr b="1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Erstellt 02.11.2025, bearbeitet: -, letzte:r Bearbeiter:in Anton Schmierer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NR-01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hteck 13"/>
          <p:cNvSpPr/>
          <p:nvPr/>
        </p:nvSpPr>
        <p:spPr>
          <a:xfrm>
            <a:off x="4277520" y="91080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Non-Functional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hteck 15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hteck 22"/>
          <p:cNvSpPr/>
          <p:nvPr/>
        </p:nvSpPr>
        <p:spPr>
          <a:xfrm>
            <a:off x="190332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Das System soll eine barrierearme Benutzeroberfläche bereitstellen- Diese soll ohne technische Vorkenntnisse bedienbar sein. Nutzer*innen sollen Funktionen wie Datenerfassung, Bearbeitung und Statistikausgabe Leicht verstehen können.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hteck 28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hteck 29"/>
          <p:cNvSpPr/>
          <p:nvPr/>
        </p:nvSpPr>
        <p:spPr>
          <a:xfrm>
            <a:off x="190332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Eine einfache Bedienung ist entscheidend, um fehlerfreie Nutzung zu gewährleisten.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hteck 31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hteck 32"/>
          <p:cNvSpPr/>
          <p:nvPr/>
        </p:nvSpPr>
        <p:spPr>
          <a:xfrm>
            <a:off x="190332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hteck 3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hteck 35"/>
          <p:cNvSpPr/>
          <p:nvPr/>
        </p:nvSpPr>
        <p:spPr>
          <a:xfrm>
            <a:off x="190332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Eine neue Nutzer*in kann innerhalb von wenigen Minuten eine Anfrage vollständig erfassen. Die Oberfläche soll als intuitiv und verständlich wahrgenommen werden. Schriftgröße und Kontrast sind einstellbar.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Schnelle Einführung ohne Schulungsaufwand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Wenn die Oberfläche zu komplex ist, wird sie nicht gerne genutzt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Höhere Barrierefreiheit kann die Designfreiheit einschränken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Projektbeschreibung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hteck 4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01.11.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NR-2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hteck 13"/>
          <p:cNvSpPr/>
          <p:nvPr/>
        </p:nvSpPr>
        <p:spPr>
          <a:xfrm>
            <a:off x="4277520" y="91080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Non-Functional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hteck 15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hteck 22"/>
          <p:cNvSpPr/>
          <p:nvPr/>
        </p:nvSpPr>
        <p:spPr>
          <a:xfrm>
            <a:off x="190332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 gibt ein Benutzer*innenhandbuch, das die einzelnen Funktionen der Software verständlich erklärt.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hteck 28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hteck 29"/>
          <p:cNvSpPr/>
          <p:nvPr/>
        </p:nvSpPr>
        <p:spPr>
          <a:xfrm>
            <a:off x="190332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Eine einfache Bedienung ist entscheidend, um fehlerfreie Nutzung zu gewährleisten. Dazu ist eine Erklärung der Funktionsweise der Software sehr wichtig.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hteck 31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hteck 32"/>
          <p:cNvSpPr/>
          <p:nvPr/>
        </p:nvSpPr>
        <p:spPr>
          <a:xfrm>
            <a:off x="190332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hteck 3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hteck 35"/>
          <p:cNvSpPr/>
          <p:nvPr/>
        </p:nvSpPr>
        <p:spPr>
          <a:xfrm>
            <a:off x="190332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Das Benutzer*innen Handbuch ist vorhanden und erklärt die Funktionen der Software verständlich, so dass zum Erlernen der korrekten Nutzung der Software nur das Benutzer*innenhandbuch nötig ist.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Projektbeschreibung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hteck 4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Erstellt 02.11.2025, bearbeitet: -, letzte:r Bearbeiter:in Anton Schmierer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NR-3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hteck 13"/>
          <p:cNvSpPr/>
          <p:nvPr/>
        </p:nvSpPr>
        <p:spPr>
          <a:xfrm>
            <a:off x="4277520" y="91080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Non-Functional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hteck 15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hteck 22"/>
          <p:cNvSpPr/>
          <p:nvPr/>
        </p:nvSpPr>
        <p:spPr>
          <a:xfrm>
            <a:off x="190332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Gesetzliche Anforderungen bzgl. DSGVO/Datensicherheit werden erfüllt.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hteck 28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hteck 29"/>
          <p:cNvSpPr/>
          <p:nvPr/>
        </p:nvSpPr>
        <p:spPr>
          <a:xfrm>
            <a:off x="190332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Gesetzliche Anforderungen müssen erfüllt und sensible Daten vor unberechtigtem Zugriff Dritter geschützt werden.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hteck 31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hteck 32"/>
          <p:cNvSpPr/>
          <p:nvPr/>
        </p:nvSpPr>
        <p:spPr>
          <a:xfrm>
            <a:off x="190332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</a:t>
            </a:r>
            <a:r>
              <a:rPr b="0" lang="en-US" sz="11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*innen 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hteck 3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hteck 35"/>
          <p:cNvSpPr/>
          <p:nvPr/>
        </p:nvSpPr>
        <p:spPr>
          <a:xfrm>
            <a:off x="190332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Die Software ist DSGVO-konform. Der unberechtigte Zugriff auf die Daten durch Dritte wird durch </a:t>
            </a:r>
            <a:r>
              <a:rPr b="0" lang="en-US" sz="11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Verschlüsselung (?)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und Passwortschutz der zugreifenden Konten unterbunden.</a:t>
            </a:r>
            <a:r>
              <a:rPr b="0" lang="en-US" sz="11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Projektbeschreibung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hteck 4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Erstellt 02.11.2025, bearbeitet: -, letzte</a:t>
            </a:r>
            <a:r>
              <a:rPr b="0" lang="de-DE" sz="11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:r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Bearbeiter:in Anton Schmierer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hteck 12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NR-4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hteck 13"/>
          <p:cNvSpPr/>
          <p:nvPr/>
        </p:nvSpPr>
        <p:spPr>
          <a:xfrm>
            <a:off x="4277520" y="91080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Non-Functional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hteck 14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hteck 15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hteck 22"/>
          <p:cNvSpPr/>
          <p:nvPr/>
        </p:nvSpPr>
        <p:spPr>
          <a:xfrm>
            <a:off x="190332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System reagiert auf mit akzeptabler Verzögerung (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z. B. &lt; 1 Sekunde beim Öffnen von Dropdowns, &lt; 3 Sekunden beim Laden von Filterergebnissen)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hteck 28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hteck 29"/>
          <p:cNvSpPr/>
          <p:nvPr/>
        </p:nvSpPr>
        <p:spPr>
          <a:xfrm>
            <a:off x="190332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Lange Verzögerungen sind schädlich für eine angenehme Benutzung der Software.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hteck 31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hteck 32"/>
          <p:cNvSpPr/>
          <p:nvPr/>
        </p:nvSpPr>
        <p:spPr>
          <a:xfrm>
            <a:off x="190332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hteck 3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hteck 35"/>
          <p:cNvSpPr/>
          <p:nvPr/>
        </p:nvSpPr>
        <p:spPr>
          <a:xfrm>
            <a:off x="190332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 1 Sekunde beim Öffnen von Dropdowns, &lt; 3 Sekunden beim Laden von Filterergebnissen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hteck 3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hteck 3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hteck 3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Hoch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hteck 3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hteck 4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Projektbeschreibung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hteck 4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03.11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hteck 1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NR-5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hteck 2"/>
          <p:cNvSpPr/>
          <p:nvPr/>
        </p:nvSpPr>
        <p:spPr>
          <a:xfrm>
            <a:off x="4277520" y="91080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Non-Functional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hteck 3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hteck 4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hteck 5"/>
          <p:cNvSpPr/>
          <p:nvPr/>
        </p:nvSpPr>
        <p:spPr>
          <a:xfrm>
            <a:off x="190332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Hinsichtlich der Usability soll eine Barrierefreiheit gewährleistet sein, wobei besonders visuelle Einschränkungen beachtet werden sollen.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hteck 6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hteck 7"/>
          <p:cNvSpPr/>
          <p:nvPr/>
        </p:nvSpPr>
        <p:spPr>
          <a:xfrm>
            <a:off x="190332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Alle Mitarbeiter:innen sollen die Oberfläche nutzen können, auch wenn visuelle Einschränkungen vorhanden sind. 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hteck 8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hteck 9"/>
          <p:cNvSpPr/>
          <p:nvPr/>
        </p:nvSpPr>
        <p:spPr>
          <a:xfrm>
            <a:off x="190332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hteck 10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hteck 11"/>
          <p:cNvSpPr/>
          <p:nvPr/>
        </p:nvSpPr>
        <p:spPr>
          <a:xfrm>
            <a:off x="190332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Die Schriftgröße kann angepasst, der Kontrast erhöht und ein Blaufilter eingestellt werden.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hteck 1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hteck 1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hteck 1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Mittel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hteck 1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hteck 2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Eye-Able-Assistent der Website: https://bellis-leipzig.de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hteck 2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erstellt am 03.11., letzte:r Bearbeiter:in Miriam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343160" y="152280"/>
            <a:ext cx="10656000" cy="4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2. Non-Functional Requirements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hteck 23"/>
          <p:cNvSpPr/>
          <p:nvPr/>
        </p:nvSpPr>
        <p:spPr>
          <a:xfrm>
            <a:off x="19224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#: NR-6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hteck 24"/>
          <p:cNvSpPr/>
          <p:nvPr/>
        </p:nvSpPr>
        <p:spPr>
          <a:xfrm>
            <a:off x="4277520" y="91080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Requirement Type: Non-Functional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hteck 25"/>
          <p:cNvSpPr/>
          <p:nvPr/>
        </p:nvSpPr>
        <p:spPr>
          <a:xfrm>
            <a:off x="8680320" y="907920"/>
            <a:ext cx="331884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Event/BUC/PUC#: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hteck 26"/>
          <p:cNvSpPr/>
          <p:nvPr/>
        </p:nvSpPr>
        <p:spPr>
          <a:xfrm>
            <a:off x="192240" y="137052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Description: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hteck 27"/>
          <p:cNvSpPr/>
          <p:nvPr/>
        </p:nvSpPr>
        <p:spPr>
          <a:xfrm>
            <a:off x="1903320" y="137052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Die Farben der Nutzer:innenoberfläche soll sich an den Farben der Webseite und des Vereins orientieren (blau und gelb)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hteck 30"/>
          <p:cNvSpPr/>
          <p:nvPr/>
        </p:nvSpPr>
        <p:spPr>
          <a:xfrm>
            <a:off x="192240" y="23014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Rationale: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hteck 33"/>
          <p:cNvSpPr/>
          <p:nvPr/>
        </p:nvSpPr>
        <p:spPr>
          <a:xfrm>
            <a:off x="1903320" y="23014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Die Oberfläche wirkt vertrauter und passt sich an das Schema des Vereins an.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hteck 42"/>
          <p:cNvSpPr/>
          <p:nvPr/>
        </p:nvSpPr>
        <p:spPr>
          <a:xfrm>
            <a:off x="192240" y="32320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Originator: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hteck 43"/>
          <p:cNvSpPr/>
          <p:nvPr/>
        </p:nvSpPr>
        <p:spPr>
          <a:xfrm>
            <a:off x="1903320" y="3232080"/>
            <a:ext cx="100972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Mitarbeiter*innen des Bellis e.V.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hteck 44"/>
          <p:cNvSpPr/>
          <p:nvPr/>
        </p:nvSpPr>
        <p:spPr>
          <a:xfrm>
            <a:off x="192240" y="3694680"/>
            <a:ext cx="137448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Fit Criterion: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hteck 45"/>
          <p:cNvSpPr/>
          <p:nvPr/>
        </p:nvSpPr>
        <p:spPr>
          <a:xfrm>
            <a:off x="1903320" y="3694680"/>
            <a:ext cx="10097280" cy="791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Die Oberfläche beinhaltet die Farben blau und gelb.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hteck 46"/>
          <p:cNvSpPr/>
          <p:nvPr/>
        </p:nvSpPr>
        <p:spPr>
          <a:xfrm>
            <a:off x="192240" y="46256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hteck 47"/>
          <p:cNvSpPr/>
          <p:nvPr/>
        </p:nvSpPr>
        <p:spPr>
          <a:xfrm>
            <a:off x="6254640" y="462276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Customer Dissatisfaction: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hteck 48"/>
          <p:cNvSpPr/>
          <p:nvPr/>
        </p:nvSpPr>
        <p:spPr>
          <a:xfrm>
            <a:off x="192240" y="50882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Niedrig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hteck 49"/>
          <p:cNvSpPr/>
          <p:nvPr/>
        </p:nvSpPr>
        <p:spPr>
          <a:xfrm>
            <a:off x="6254640" y="5086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Conflicts: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hteck 50"/>
          <p:cNvSpPr/>
          <p:nvPr/>
        </p:nvSpPr>
        <p:spPr>
          <a:xfrm>
            <a:off x="192240" y="55508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Supporting Materials: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Webseite: https://bellis-leipzig.de/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hteck 51"/>
          <p:cNvSpPr/>
          <p:nvPr/>
        </p:nvSpPr>
        <p:spPr>
          <a:xfrm>
            <a:off x="192240" y="6013440"/>
            <a:ext cx="5744520" cy="3232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History: </a:t>
            </a:r>
            <a:r>
              <a:rPr b="0" lang="de-DE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erstellt am 03.11., letzte:r Bearbeiter:in Miriam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UC Startfolie">
  <a:themeElements>
    <a:clrScheme name="Benutzerdefiniert 1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C Folgefolien ">
  <a:themeElements>
    <a:clrScheme name="Benutzerdefiniert 2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INFO_KH</Template>
  <TotalTime>24</TotalTime>
  <Application>LibreOffice/25.2.6.2$Linux_X86_64 LibreOffice_project/40d1a0e1d5bdf1afaeae24d9ece32bbb00fa66a4</Application>
  <AppVersion>15.0000</AppVersion>
  <Words>1069</Words>
  <Paragraphs>170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Corporate Design der TU Chemnitz</cp:category>
  <dcterms:created xsi:type="dcterms:W3CDTF">2025-10-30T14:38:09Z</dcterms:created>
  <dc:creator>Mohammad Rajeh</dc:creator>
  <dc:description/>
  <dc:language>de-DE</dc:language>
  <cp:lastModifiedBy/>
  <cp:lastPrinted>2015-10-30T11:33:42Z</cp:lastPrinted>
  <dcterms:modified xsi:type="dcterms:W3CDTF">2025-11-03T11:17:03Z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Breitbild</vt:lpwstr>
  </property>
  <property fmtid="{D5CDD505-2E9C-101B-9397-08002B2CF9AE}" pid="4" name="Slides">
    <vt:i4>10</vt:i4>
  </property>
</Properties>
</file>